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9"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80" r:id="rId19"/>
    <p:sldId id="274" r:id="rId20"/>
    <p:sldId id="275" r:id="rId21"/>
    <p:sldId id="276" r:id="rId22"/>
    <p:sldId id="277" r:id="rId23"/>
    <p:sldId id="278"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1666" y="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Oval 1"/>
          <p:cNvSpPr/>
          <p:nvPr/>
        </p:nvSpPr>
        <p:spPr>
          <a:xfrm>
            <a:off x="6934200" y="-845820"/>
            <a:ext cx="3657600" cy="3657600"/>
          </a:xfrm>
          <a:prstGeom prst="ellipse">
            <a:avLst/>
          </a:prstGeom>
          <a:solidFill>
            <a:srgbClr val="2D4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365760"/>
            <a:ext cx="2743200" cy="36576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200" b="1">
                <a:solidFill>
                  <a:srgbClr val="96AAC8"/>
                </a:solidFill>
              </a:defRPr>
            </a:pPr>
            <a:r>
              <a:rPr kumimoji="0" sz="1200" b="1" i="0" u="none" strike="noStrike" kern="1200" cap="none" spc="0" normalizeH="0" baseline="0" noProof="0" dirty="0">
                <a:ln>
                  <a:noFill/>
                </a:ln>
                <a:solidFill>
                  <a:srgbClr val="96AAC8"/>
                </a:solidFill>
                <a:effectLst/>
                <a:uLnTx/>
                <a:uFillTx/>
                <a:latin typeface="Calibri"/>
                <a:ea typeface="+mn-ea"/>
                <a:cs typeface="+mn-cs"/>
              </a:rPr>
              <a:t>GRADUATION PROJECT 2026</a:t>
            </a:r>
          </a:p>
        </p:txBody>
      </p:sp>
      <p:sp>
        <p:nvSpPr>
          <p:cNvPr id="4" name="TextBox 3"/>
          <p:cNvSpPr txBox="1"/>
          <p:nvPr/>
        </p:nvSpPr>
        <p:spPr>
          <a:xfrm>
            <a:off x="685800" y="1792283"/>
            <a:ext cx="7772400" cy="18288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5600" b="1">
                <a:solidFill>
                  <a:srgbClr val="FFFFFF"/>
                </a:solidFill>
              </a:defRPr>
            </a:pPr>
            <a:r>
              <a:rPr kumimoji="0" sz="5600" b="1" i="0" u="none" strike="noStrike" kern="1200" cap="none" spc="0" normalizeH="0" baseline="0" noProof="0" dirty="0">
                <a:ln>
                  <a:noFill/>
                </a:ln>
                <a:solidFill>
                  <a:srgbClr val="FFFFFF"/>
                </a:solidFill>
                <a:effectLst/>
                <a:uLnTx/>
                <a:uFillTx/>
                <a:latin typeface="Calibri"/>
                <a:ea typeface="+mn-ea"/>
                <a:cs typeface="+mn-cs"/>
              </a:rPr>
              <a:t>Smart Academic Advisor System</a:t>
            </a:r>
          </a:p>
        </p:txBody>
      </p:sp>
      <p:sp>
        <p:nvSpPr>
          <p:cNvPr id="11" name="TextBox 10">
            <a:extLst>
              <a:ext uri="{FF2B5EF4-FFF2-40B4-BE49-F238E27FC236}">
                <a16:creationId xmlns:a16="http://schemas.microsoft.com/office/drawing/2014/main" id="{F24E7798-AF06-C15C-CB8F-2C4C3ABBD506}"/>
              </a:ext>
            </a:extLst>
          </p:cNvPr>
          <p:cNvSpPr txBox="1"/>
          <p:nvPr/>
        </p:nvSpPr>
        <p:spPr>
          <a:xfrm>
            <a:off x="731520" y="3835460"/>
            <a:ext cx="3709851" cy="1692771"/>
          </a:xfrm>
          <a:prstGeom prst="rect">
            <a:avLst/>
          </a:prstGeom>
          <a:noFill/>
        </p:spPr>
        <p:txBody>
          <a:bodyPr wrap="square">
            <a:spAutoFit/>
          </a:bodyPr>
          <a:lstStyle/>
          <a:p>
            <a:pPr>
              <a:defRPr sz="2000" b="1">
                <a:solidFill>
                  <a:srgbClr val="F59E0B"/>
                </a:solidFill>
              </a:defRPr>
            </a:pPr>
            <a:r>
              <a:rPr lang="en-US" dirty="0"/>
              <a:t>Project Team</a:t>
            </a:r>
          </a:p>
          <a:p>
            <a:pPr>
              <a:spcBef>
                <a:spcPts val="600"/>
              </a:spcBef>
              <a:defRPr sz="1600">
                <a:solidFill>
                  <a:srgbClr val="FFFFFF"/>
                </a:solidFill>
              </a:defRPr>
            </a:pPr>
            <a:r>
              <a:rPr lang="en-US" dirty="0"/>
              <a:t>Youssef Emad (225241)</a:t>
            </a:r>
          </a:p>
          <a:p>
            <a:pPr>
              <a:spcBef>
                <a:spcPts val="600"/>
              </a:spcBef>
              <a:defRPr sz="1600">
                <a:solidFill>
                  <a:srgbClr val="FFFFFF"/>
                </a:solidFill>
              </a:defRPr>
            </a:pPr>
            <a:r>
              <a:rPr lang="en-US" dirty="0"/>
              <a:t>Amr Hamdy (225182)</a:t>
            </a:r>
          </a:p>
          <a:p>
            <a:pPr>
              <a:spcBef>
                <a:spcPts val="600"/>
              </a:spcBef>
              <a:defRPr sz="1600">
                <a:solidFill>
                  <a:srgbClr val="FFFFFF"/>
                </a:solidFill>
              </a:defRPr>
            </a:pPr>
            <a:r>
              <a:rPr lang="en-US" dirty="0"/>
              <a:t>Zeyad Mostafa (225070)</a:t>
            </a:r>
          </a:p>
          <a:p>
            <a:pPr>
              <a:spcBef>
                <a:spcPts val="600"/>
              </a:spcBef>
              <a:defRPr sz="1600">
                <a:solidFill>
                  <a:srgbClr val="FFFFFF"/>
                </a:solidFill>
              </a:defRPr>
            </a:pPr>
            <a:r>
              <a:rPr lang="en-US" dirty="0"/>
              <a:t>Omar </a:t>
            </a:r>
            <a:r>
              <a:rPr lang="en-US" dirty="0" err="1"/>
              <a:t>Tokal</a:t>
            </a:r>
            <a:r>
              <a:rPr lang="en-US" dirty="0"/>
              <a:t> (225238)</a:t>
            </a:r>
          </a:p>
        </p:txBody>
      </p:sp>
      <p:sp>
        <p:nvSpPr>
          <p:cNvPr id="12" name="TextBox 11">
            <a:extLst>
              <a:ext uri="{FF2B5EF4-FFF2-40B4-BE49-F238E27FC236}">
                <a16:creationId xmlns:a16="http://schemas.microsoft.com/office/drawing/2014/main" id="{A18B6B88-024D-7FB0-1F43-C83C9047419E}"/>
              </a:ext>
            </a:extLst>
          </p:cNvPr>
          <p:cNvSpPr txBox="1"/>
          <p:nvPr/>
        </p:nvSpPr>
        <p:spPr>
          <a:xfrm>
            <a:off x="5029200" y="3840480"/>
            <a:ext cx="4114800" cy="2286000"/>
          </a:xfrm>
          <a:prstGeom prst="rect">
            <a:avLst/>
          </a:prstGeom>
          <a:noFill/>
        </p:spPr>
        <p:txBody>
          <a:bodyPr wrap="none">
            <a:spAutoFit/>
          </a:bodyPr>
          <a:lstStyle/>
          <a:p>
            <a:pPr>
              <a:defRPr sz="2000" b="1">
                <a:solidFill>
                  <a:srgbClr val="F59E0B"/>
                </a:solidFill>
              </a:defRPr>
            </a:pPr>
            <a:r>
              <a:rPr dirty="0"/>
              <a:t>Supervised By</a:t>
            </a:r>
          </a:p>
          <a:p>
            <a:pPr>
              <a:spcBef>
                <a:spcPts val="600"/>
              </a:spcBef>
              <a:defRPr sz="1600">
                <a:solidFill>
                  <a:srgbClr val="FFFFFF"/>
                </a:solidFill>
              </a:defRPr>
            </a:pPr>
            <a:r>
              <a:rPr dirty="0"/>
              <a:t>Prof. Dr. Sameh Zarif</a:t>
            </a:r>
          </a:p>
          <a:p>
            <a:pPr>
              <a:spcBef>
                <a:spcPts val="600"/>
              </a:spcBef>
              <a:defRPr sz="1600">
                <a:solidFill>
                  <a:srgbClr val="FFFFFF"/>
                </a:solidFill>
              </a:defRPr>
            </a:pPr>
            <a:r>
              <a:rPr dirty="0"/>
              <a:t>T.A. Mariam Haggag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1E3A8A"/>
                </a:solidFill>
              </a:defRPr>
            </a:pPr>
            <a:r>
              <a:rPr dirty="0"/>
              <a:t>Presentation Agenda</a:t>
            </a:r>
          </a:p>
        </p:txBody>
      </p:sp>
      <p:sp>
        <p:nvSpPr>
          <p:cNvPr id="3" name="Oval 2"/>
          <p:cNvSpPr/>
          <p:nvPr/>
        </p:nvSpPr>
        <p:spPr>
          <a:xfrm>
            <a:off x="731520" y="1645920"/>
            <a:ext cx="457200" cy="45720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1</a:t>
            </a:r>
          </a:p>
        </p:txBody>
      </p:sp>
      <p:sp>
        <p:nvSpPr>
          <p:cNvPr id="4" name="TextBox 3"/>
          <p:cNvSpPr txBox="1"/>
          <p:nvPr/>
        </p:nvSpPr>
        <p:spPr>
          <a:xfrm>
            <a:off x="1371600" y="1600200"/>
            <a:ext cx="6858000" cy="640080"/>
          </a:xfrm>
          <a:prstGeom prst="rect">
            <a:avLst/>
          </a:prstGeom>
          <a:noFill/>
        </p:spPr>
        <p:txBody>
          <a:bodyPr wrap="none">
            <a:spAutoFit/>
          </a:bodyPr>
          <a:lstStyle/>
          <a:p>
            <a:pPr>
              <a:defRPr sz="2200" b="1">
                <a:solidFill>
                  <a:srgbClr val="1F2937"/>
                </a:solidFill>
              </a:defRPr>
            </a:pPr>
            <a:r>
              <a:rPr dirty="0"/>
              <a:t>Introduction &amp; Problem</a:t>
            </a:r>
          </a:p>
          <a:p>
            <a:pPr>
              <a:spcBef>
                <a:spcPts val="400"/>
              </a:spcBef>
              <a:defRPr sz="1600">
                <a:solidFill>
                  <a:srgbClr val="6B7280"/>
                </a:solidFill>
              </a:defRPr>
            </a:pPr>
            <a:r>
              <a:rPr dirty="0"/>
              <a:t>Setting the stage for our research.</a:t>
            </a:r>
          </a:p>
        </p:txBody>
      </p:sp>
      <p:sp>
        <p:nvSpPr>
          <p:cNvPr id="5" name="Oval 4"/>
          <p:cNvSpPr/>
          <p:nvPr/>
        </p:nvSpPr>
        <p:spPr>
          <a:xfrm>
            <a:off x="731520" y="2560320"/>
            <a:ext cx="457200" cy="45720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2</a:t>
            </a:r>
          </a:p>
        </p:txBody>
      </p:sp>
      <p:sp>
        <p:nvSpPr>
          <p:cNvPr id="6" name="TextBox 5"/>
          <p:cNvSpPr txBox="1"/>
          <p:nvPr/>
        </p:nvSpPr>
        <p:spPr>
          <a:xfrm>
            <a:off x="1371600" y="2514600"/>
            <a:ext cx="6858000" cy="640080"/>
          </a:xfrm>
          <a:prstGeom prst="rect">
            <a:avLst/>
          </a:prstGeom>
          <a:noFill/>
        </p:spPr>
        <p:txBody>
          <a:bodyPr wrap="none">
            <a:spAutoFit/>
          </a:bodyPr>
          <a:lstStyle/>
          <a:p>
            <a:pPr>
              <a:defRPr sz="2200" b="1">
                <a:solidFill>
                  <a:srgbClr val="1F2937"/>
                </a:solidFill>
              </a:defRPr>
            </a:pPr>
            <a:r>
              <a:rPr dirty="0"/>
              <a:t>Motivation &amp; Objectives</a:t>
            </a:r>
          </a:p>
          <a:p>
            <a:pPr>
              <a:spcBef>
                <a:spcPts val="400"/>
              </a:spcBef>
              <a:defRPr sz="1600">
                <a:solidFill>
                  <a:srgbClr val="6B7280"/>
                </a:solidFill>
              </a:defRPr>
            </a:pPr>
            <a:r>
              <a:rPr dirty="0"/>
              <a:t>Why this project matters and what we aim to achieve.</a:t>
            </a:r>
          </a:p>
        </p:txBody>
      </p:sp>
      <p:sp>
        <p:nvSpPr>
          <p:cNvPr id="7" name="Oval 6"/>
          <p:cNvSpPr/>
          <p:nvPr/>
        </p:nvSpPr>
        <p:spPr>
          <a:xfrm>
            <a:off x="731520" y="3474720"/>
            <a:ext cx="457200" cy="45720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3</a:t>
            </a:r>
          </a:p>
        </p:txBody>
      </p:sp>
      <p:sp>
        <p:nvSpPr>
          <p:cNvPr id="8" name="TextBox 7"/>
          <p:cNvSpPr txBox="1"/>
          <p:nvPr/>
        </p:nvSpPr>
        <p:spPr>
          <a:xfrm>
            <a:off x="1371600" y="3429000"/>
            <a:ext cx="6858000" cy="728405"/>
          </a:xfrm>
          <a:prstGeom prst="rect">
            <a:avLst/>
          </a:prstGeom>
          <a:noFill/>
        </p:spPr>
        <p:txBody>
          <a:bodyPr wrap="square">
            <a:spAutoFit/>
          </a:bodyPr>
          <a:lstStyle/>
          <a:p>
            <a:pPr>
              <a:defRPr sz="2200" b="1">
                <a:solidFill>
                  <a:srgbClr val="1F2937"/>
                </a:solidFill>
              </a:defRPr>
            </a:pPr>
            <a:r>
              <a:rPr dirty="0"/>
              <a:t>Related Work &amp; Business Model</a:t>
            </a:r>
          </a:p>
          <a:p>
            <a:pPr>
              <a:spcBef>
                <a:spcPts val="400"/>
              </a:spcBef>
              <a:defRPr sz="1600">
                <a:solidFill>
                  <a:srgbClr val="6B7280"/>
                </a:solidFill>
              </a:defRPr>
            </a:pPr>
            <a:r>
              <a:rPr dirty="0"/>
              <a:t>Understanding the landscape and impact.</a:t>
            </a:r>
          </a:p>
        </p:txBody>
      </p:sp>
      <p:sp>
        <p:nvSpPr>
          <p:cNvPr id="9" name="Oval 8"/>
          <p:cNvSpPr/>
          <p:nvPr/>
        </p:nvSpPr>
        <p:spPr>
          <a:xfrm>
            <a:off x="731520" y="4389120"/>
            <a:ext cx="457200" cy="45720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4</a:t>
            </a:r>
          </a:p>
        </p:txBody>
      </p:sp>
      <p:sp>
        <p:nvSpPr>
          <p:cNvPr id="10" name="TextBox 9"/>
          <p:cNvSpPr txBox="1"/>
          <p:nvPr/>
        </p:nvSpPr>
        <p:spPr>
          <a:xfrm>
            <a:off x="1371600" y="4343400"/>
            <a:ext cx="6858000" cy="640080"/>
          </a:xfrm>
          <a:prstGeom prst="rect">
            <a:avLst/>
          </a:prstGeom>
          <a:noFill/>
        </p:spPr>
        <p:txBody>
          <a:bodyPr wrap="none">
            <a:spAutoFit/>
          </a:bodyPr>
          <a:lstStyle/>
          <a:p>
            <a:pPr>
              <a:defRPr sz="2200" b="1">
                <a:solidFill>
                  <a:srgbClr val="1F2937"/>
                </a:solidFill>
              </a:defRPr>
            </a:pPr>
            <a:r>
              <a:rPr dirty="0"/>
              <a:t>Methodology &amp; Design</a:t>
            </a:r>
          </a:p>
          <a:p>
            <a:pPr>
              <a:spcBef>
                <a:spcPts val="400"/>
              </a:spcBef>
              <a:defRPr sz="1600">
                <a:solidFill>
                  <a:srgbClr val="6B7280"/>
                </a:solidFill>
              </a:defRPr>
            </a:pPr>
            <a:r>
              <a:rPr dirty="0"/>
              <a:t>Our approach and detailed system design.</a:t>
            </a:r>
          </a:p>
        </p:txBody>
      </p:sp>
      <p:sp>
        <p:nvSpPr>
          <p:cNvPr id="11" name="Oval 10"/>
          <p:cNvSpPr/>
          <p:nvPr/>
        </p:nvSpPr>
        <p:spPr>
          <a:xfrm>
            <a:off x="731520" y="5303520"/>
            <a:ext cx="457200" cy="45720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5</a:t>
            </a:r>
          </a:p>
        </p:txBody>
      </p:sp>
      <p:sp>
        <p:nvSpPr>
          <p:cNvPr id="12" name="TextBox 11"/>
          <p:cNvSpPr txBox="1"/>
          <p:nvPr/>
        </p:nvSpPr>
        <p:spPr>
          <a:xfrm>
            <a:off x="1371600" y="5257800"/>
            <a:ext cx="6858000" cy="640080"/>
          </a:xfrm>
          <a:prstGeom prst="rect">
            <a:avLst/>
          </a:prstGeom>
          <a:noFill/>
        </p:spPr>
        <p:txBody>
          <a:bodyPr wrap="none">
            <a:spAutoFit/>
          </a:bodyPr>
          <a:lstStyle/>
          <a:p>
            <a:pPr>
              <a:defRPr sz="2200" b="1">
                <a:solidFill>
                  <a:srgbClr val="1F2937"/>
                </a:solidFill>
              </a:defRPr>
            </a:pPr>
            <a:r>
              <a:rPr dirty="0"/>
              <a:t>Requirements &amp; Timeline</a:t>
            </a:r>
          </a:p>
          <a:p>
            <a:pPr>
              <a:spcBef>
                <a:spcPts val="400"/>
              </a:spcBef>
              <a:defRPr sz="1600">
                <a:solidFill>
                  <a:srgbClr val="6B7280"/>
                </a:solidFill>
              </a:defRPr>
            </a:pPr>
            <a:r>
              <a:rPr dirty="0"/>
              <a:t>Defining what our system does and how it will be built.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1E3A8A"/>
                </a:solidFill>
              </a:defRPr>
            </a:pPr>
            <a:r>
              <a:t>Introduction</a:t>
            </a:r>
          </a:p>
        </p:txBody>
      </p:sp>
      <p:sp>
        <p:nvSpPr>
          <p:cNvPr id="3" name="Rounded Rectangle 2"/>
          <p:cNvSpPr/>
          <p:nvPr/>
        </p:nvSpPr>
        <p:spPr>
          <a:xfrm>
            <a:off x="457200" y="1645920"/>
            <a:ext cx="4114800" cy="228600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761111"/>
            <a:ext cx="652743" cy="646331"/>
          </a:xfrm>
          <a:prstGeom prst="rect">
            <a:avLst/>
          </a:prstGeom>
          <a:noFill/>
        </p:spPr>
        <p:txBody>
          <a:bodyPr wrap="none">
            <a:spAutoFit/>
          </a:bodyPr>
          <a:lstStyle/>
          <a:p>
            <a:pPr>
              <a:defRPr sz="3600" b="1">
                <a:solidFill>
                  <a:srgbClr val="F59E0B"/>
                </a:solidFill>
              </a:defRPr>
            </a:pPr>
            <a:r>
              <a:rPr lang="en-US" dirty="0"/>
              <a:t>0</a:t>
            </a:r>
            <a:r>
              <a:rPr dirty="0"/>
              <a:t>1</a:t>
            </a:r>
          </a:p>
        </p:txBody>
      </p:sp>
      <p:sp>
        <p:nvSpPr>
          <p:cNvPr id="5" name="TextBox 4"/>
          <p:cNvSpPr txBox="1"/>
          <p:nvPr/>
        </p:nvSpPr>
        <p:spPr>
          <a:xfrm>
            <a:off x="640080" y="2286000"/>
            <a:ext cx="3657600" cy="457200"/>
          </a:xfrm>
          <a:prstGeom prst="rect">
            <a:avLst/>
          </a:prstGeom>
          <a:noFill/>
        </p:spPr>
        <p:txBody>
          <a:bodyPr wrap="none">
            <a:spAutoFit/>
          </a:bodyPr>
          <a:lstStyle/>
          <a:p>
            <a:pPr>
              <a:defRPr sz="1800" b="1">
                <a:solidFill>
                  <a:srgbClr val="1E3A8A"/>
                </a:solidFill>
              </a:defRPr>
            </a:pPr>
            <a:r>
              <a:rPr dirty="0"/>
              <a:t>What is the System?</a:t>
            </a:r>
          </a:p>
        </p:txBody>
      </p:sp>
      <p:sp>
        <p:nvSpPr>
          <p:cNvPr id="6" name="TextBox 5"/>
          <p:cNvSpPr txBox="1"/>
          <p:nvPr/>
        </p:nvSpPr>
        <p:spPr>
          <a:xfrm>
            <a:off x="640080" y="2743200"/>
            <a:ext cx="3657600" cy="1005840"/>
          </a:xfrm>
          <a:prstGeom prst="rect">
            <a:avLst/>
          </a:prstGeom>
          <a:noFill/>
        </p:spPr>
        <p:txBody>
          <a:bodyPr wrap="square">
            <a:spAutoFit/>
          </a:bodyPr>
          <a:lstStyle/>
          <a:p>
            <a:pPr>
              <a:lnSpc>
                <a:spcPct val="120000"/>
              </a:lnSpc>
              <a:defRPr sz="1300">
                <a:solidFill>
                  <a:srgbClr val="1F2937"/>
                </a:solidFill>
              </a:defRPr>
            </a:pPr>
            <a:r>
              <a:t>An intelligent academic guidance system designed to replicate and enhance the role of a human academic advisor, offering personalized support for university students.</a:t>
            </a:r>
          </a:p>
        </p:txBody>
      </p:sp>
      <p:sp>
        <p:nvSpPr>
          <p:cNvPr id="7" name="Rounded Rectangle 6"/>
          <p:cNvSpPr/>
          <p:nvPr/>
        </p:nvSpPr>
        <p:spPr>
          <a:xfrm>
            <a:off x="4800600" y="1645920"/>
            <a:ext cx="4114800" cy="228600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83480" y="1772986"/>
            <a:ext cx="914400" cy="457200"/>
          </a:xfrm>
          <a:prstGeom prst="rect">
            <a:avLst/>
          </a:prstGeom>
          <a:noFill/>
        </p:spPr>
        <p:txBody>
          <a:bodyPr wrap="none">
            <a:spAutoFit/>
          </a:bodyPr>
          <a:lstStyle/>
          <a:p>
            <a:pPr>
              <a:defRPr sz="3600" b="1">
                <a:solidFill>
                  <a:srgbClr val="F59E0B"/>
                </a:solidFill>
              </a:defRPr>
            </a:pPr>
            <a:r>
              <a:t>02</a:t>
            </a:r>
          </a:p>
        </p:txBody>
      </p:sp>
      <p:sp>
        <p:nvSpPr>
          <p:cNvPr id="9" name="TextBox 8"/>
          <p:cNvSpPr txBox="1"/>
          <p:nvPr/>
        </p:nvSpPr>
        <p:spPr>
          <a:xfrm>
            <a:off x="4983480" y="2286000"/>
            <a:ext cx="3657600" cy="457200"/>
          </a:xfrm>
          <a:prstGeom prst="rect">
            <a:avLst/>
          </a:prstGeom>
          <a:noFill/>
        </p:spPr>
        <p:txBody>
          <a:bodyPr wrap="none">
            <a:spAutoFit/>
          </a:bodyPr>
          <a:lstStyle/>
          <a:p>
            <a:pPr>
              <a:defRPr sz="1800" b="1">
                <a:solidFill>
                  <a:srgbClr val="1E3A8A"/>
                </a:solidFill>
              </a:defRPr>
            </a:pPr>
            <a:r>
              <a:rPr dirty="0"/>
              <a:t>How Does It Function?</a:t>
            </a:r>
          </a:p>
        </p:txBody>
      </p:sp>
      <p:sp>
        <p:nvSpPr>
          <p:cNvPr id="10" name="TextBox 9"/>
          <p:cNvSpPr txBox="1"/>
          <p:nvPr/>
        </p:nvSpPr>
        <p:spPr>
          <a:xfrm>
            <a:off x="4983480" y="2663635"/>
            <a:ext cx="3657600" cy="1005840"/>
          </a:xfrm>
          <a:prstGeom prst="rect">
            <a:avLst/>
          </a:prstGeom>
          <a:noFill/>
        </p:spPr>
        <p:txBody>
          <a:bodyPr wrap="square">
            <a:spAutoFit/>
          </a:bodyPr>
          <a:lstStyle/>
          <a:p>
            <a:pPr>
              <a:lnSpc>
                <a:spcPct val="120000"/>
              </a:lnSpc>
              <a:defRPr sz="1300">
                <a:solidFill>
                  <a:srgbClr val="1F2937"/>
                </a:solidFill>
              </a:defRPr>
            </a:pPr>
            <a:r>
              <a:rPr dirty="0"/>
              <a:t>Integrates Retrieval-Augmented Generation (RAG) for document retrieval, Knowledge Graphs for prerequisite reasoning, and Large Language Models (LLMs) for natural, context-aware conversations.</a:t>
            </a:r>
          </a:p>
        </p:txBody>
      </p:sp>
      <p:sp>
        <p:nvSpPr>
          <p:cNvPr id="11" name="Rounded Rectangle 10"/>
          <p:cNvSpPr/>
          <p:nvPr/>
        </p:nvSpPr>
        <p:spPr>
          <a:xfrm>
            <a:off x="457200" y="4297680"/>
            <a:ext cx="4114800" cy="228600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4456809"/>
            <a:ext cx="914400" cy="457200"/>
          </a:xfrm>
          <a:prstGeom prst="rect">
            <a:avLst/>
          </a:prstGeom>
          <a:noFill/>
        </p:spPr>
        <p:txBody>
          <a:bodyPr wrap="none">
            <a:spAutoFit/>
          </a:bodyPr>
          <a:lstStyle/>
          <a:p>
            <a:pPr>
              <a:defRPr sz="3600" b="1">
                <a:solidFill>
                  <a:srgbClr val="F59E0B"/>
                </a:solidFill>
              </a:defRPr>
            </a:pPr>
            <a:r>
              <a:rPr dirty="0"/>
              <a:t>03</a:t>
            </a:r>
          </a:p>
        </p:txBody>
      </p:sp>
      <p:sp>
        <p:nvSpPr>
          <p:cNvPr id="13" name="TextBox 12"/>
          <p:cNvSpPr txBox="1"/>
          <p:nvPr/>
        </p:nvSpPr>
        <p:spPr>
          <a:xfrm>
            <a:off x="640080" y="4937760"/>
            <a:ext cx="3657600" cy="457200"/>
          </a:xfrm>
          <a:prstGeom prst="rect">
            <a:avLst/>
          </a:prstGeom>
          <a:noFill/>
        </p:spPr>
        <p:txBody>
          <a:bodyPr wrap="none">
            <a:spAutoFit/>
          </a:bodyPr>
          <a:lstStyle/>
          <a:p>
            <a:pPr>
              <a:defRPr sz="1800" b="1">
                <a:solidFill>
                  <a:srgbClr val="1E3A8A"/>
                </a:solidFill>
              </a:defRPr>
            </a:pPr>
            <a:r>
              <a:t>Where Is It Deployed?</a:t>
            </a:r>
          </a:p>
        </p:txBody>
      </p:sp>
      <p:sp>
        <p:nvSpPr>
          <p:cNvPr id="14" name="TextBox 13"/>
          <p:cNvSpPr txBox="1"/>
          <p:nvPr/>
        </p:nvSpPr>
        <p:spPr>
          <a:xfrm>
            <a:off x="640080" y="5394960"/>
            <a:ext cx="3657600" cy="1005840"/>
          </a:xfrm>
          <a:prstGeom prst="rect">
            <a:avLst/>
          </a:prstGeom>
          <a:noFill/>
        </p:spPr>
        <p:txBody>
          <a:bodyPr wrap="square">
            <a:spAutoFit/>
          </a:bodyPr>
          <a:lstStyle/>
          <a:p>
            <a:pPr>
              <a:lnSpc>
                <a:spcPct val="120000"/>
              </a:lnSpc>
              <a:defRPr sz="1300">
                <a:solidFill>
                  <a:srgbClr val="1F2937"/>
                </a:solidFill>
              </a:defRPr>
            </a:pPr>
            <a:r>
              <a:t>Delivered via a Flutter mobile application connected to a Supabase backend and a robust FastAPI-based AI engine.</a:t>
            </a:r>
          </a:p>
        </p:txBody>
      </p:sp>
      <p:sp>
        <p:nvSpPr>
          <p:cNvPr id="15" name="Rounded Rectangle 14"/>
          <p:cNvSpPr/>
          <p:nvPr/>
        </p:nvSpPr>
        <p:spPr>
          <a:xfrm>
            <a:off x="4800600" y="4297680"/>
            <a:ext cx="4114800" cy="228600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983480" y="4389120"/>
            <a:ext cx="914400" cy="457200"/>
          </a:xfrm>
          <a:prstGeom prst="rect">
            <a:avLst/>
          </a:prstGeom>
          <a:noFill/>
        </p:spPr>
        <p:txBody>
          <a:bodyPr wrap="none">
            <a:spAutoFit/>
          </a:bodyPr>
          <a:lstStyle/>
          <a:p>
            <a:pPr>
              <a:defRPr sz="3600" b="1">
                <a:solidFill>
                  <a:srgbClr val="F59E0B"/>
                </a:solidFill>
              </a:defRPr>
            </a:pPr>
            <a:r>
              <a:rPr dirty="0"/>
              <a:t>04</a:t>
            </a:r>
          </a:p>
        </p:txBody>
      </p:sp>
      <p:sp>
        <p:nvSpPr>
          <p:cNvPr id="17" name="TextBox 16"/>
          <p:cNvSpPr txBox="1"/>
          <p:nvPr/>
        </p:nvSpPr>
        <p:spPr>
          <a:xfrm>
            <a:off x="4983480" y="4937760"/>
            <a:ext cx="3657600" cy="457200"/>
          </a:xfrm>
          <a:prstGeom prst="rect">
            <a:avLst/>
          </a:prstGeom>
          <a:noFill/>
        </p:spPr>
        <p:txBody>
          <a:bodyPr wrap="none">
            <a:spAutoFit/>
          </a:bodyPr>
          <a:lstStyle/>
          <a:p>
            <a:pPr>
              <a:defRPr sz="1800" b="1">
                <a:solidFill>
                  <a:srgbClr val="1E3A8A"/>
                </a:solidFill>
              </a:defRPr>
            </a:pPr>
            <a:r>
              <a:t>Why Is It Essential?</a:t>
            </a:r>
          </a:p>
        </p:txBody>
      </p:sp>
      <p:sp>
        <p:nvSpPr>
          <p:cNvPr id="18" name="TextBox 17"/>
          <p:cNvSpPr txBox="1"/>
          <p:nvPr/>
        </p:nvSpPr>
        <p:spPr>
          <a:xfrm>
            <a:off x="4983480" y="5394960"/>
            <a:ext cx="3657600" cy="1005840"/>
          </a:xfrm>
          <a:prstGeom prst="rect">
            <a:avLst/>
          </a:prstGeom>
          <a:noFill/>
        </p:spPr>
        <p:txBody>
          <a:bodyPr wrap="square">
            <a:spAutoFit/>
          </a:bodyPr>
          <a:lstStyle/>
          <a:p>
            <a:pPr>
              <a:lnSpc>
                <a:spcPct val="120000"/>
              </a:lnSpc>
              <a:defRPr sz="1300">
                <a:solidFill>
                  <a:srgbClr val="1F2937"/>
                </a:solidFill>
              </a:defRPr>
            </a:pPr>
            <a:r>
              <a:t>To provide always-available, consistent, and personalized advising, ensuring no student is left behind due to advisor unavailability.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021782" cy="1323439"/>
          </a:xfrm>
          <a:prstGeom prst="rect">
            <a:avLst/>
          </a:prstGeom>
          <a:noFill/>
        </p:spPr>
        <p:txBody>
          <a:bodyPr wrap="square">
            <a:spAutoFit/>
          </a:bodyPr>
          <a:lstStyle/>
          <a:p>
            <a:pPr>
              <a:defRPr sz="4000" b="1">
                <a:solidFill>
                  <a:srgbClr val="1E3A8A"/>
                </a:solidFill>
              </a:defRPr>
            </a:pPr>
            <a:r>
              <a:rPr dirty="0"/>
              <a:t>The Need for Intelligent Academic Advising</a:t>
            </a:r>
          </a:p>
        </p:txBody>
      </p:sp>
      <p:sp>
        <p:nvSpPr>
          <p:cNvPr id="4" name="TextBox 3"/>
          <p:cNvSpPr txBox="1"/>
          <p:nvPr/>
        </p:nvSpPr>
        <p:spPr>
          <a:xfrm>
            <a:off x="457200" y="1828800"/>
            <a:ext cx="3886200" cy="365760"/>
          </a:xfrm>
          <a:prstGeom prst="rect">
            <a:avLst/>
          </a:prstGeom>
          <a:noFill/>
        </p:spPr>
        <p:txBody>
          <a:bodyPr wrap="none">
            <a:spAutoFit/>
          </a:bodyPr>
          <a:lstStyle/>
          <a:p>
            <a:pPr>
              <a:defRPr sz="2200" b="1">
                <a:solidFill>
                  <a:srgbClr val="F59E0B"/>
                </a:solidFill>
              </a:defRPr>
            </a:pPr>
            <a:r>
              <a:t>Current Challenges</a:t>
            </a:r>
          </a:p>
        </p:txBody>
      </p:sp>
      <p:sp>
        <p:nvSpPr>
          <p:cNvPr id="5" name="TextBox 4"/>
          <p:cNvSpPr txBox="1"/>
          <p:nvPr/>
        </p:nvSpPr>
        <p:spPr>
          <a:xfrm>
            <a:off x="457200" y="2286000"/>
            <a:ext cx="3886200" cy="4114800"/>
          </a:xfrm>
          <a:prstGeom prst="rect">
            <a:avLst/>
          </a:prstGeom>
          <a:noFill/>
        </p:spPr>
        <p:txBody>
          <a:bodyPr wrap="square">
            <a:spAutoFit/>
          </a:bodyPr>
          <a:lstStyle/>
          <a:p>
            <a:pPr>
              <a:spcBef>
                <a:spcPts val="0"/>
              </a:spcBef>
              <a:defRPr sz="1400" b="1">
                <a:solidFill>
                  <a:srgbClr val="1E3A8A"/>
                </a:solidFill>
              </a:defRPr>
            </a:pPr>
            <a:r>
              <a:rPr dirty="0"/>
              <a:t>• Limited Advisor Capacity</a:t>
            </a:r>
          </a:p>
          <a:p>
            <a:pPr lvl="1">
              <a:spcBef>
                <a:spcPts val="200"/>
              </a:spcBef>
              <a:defRPr sz="1200">
                <a:solidFill>
                  <a:srgbClr val="1F2937"/>
                </a:solidFill>
              </a:defRPr>
            </a:pPr>
            <a:r>
              <a:rPr dirty="0"/>
              <a:t>Academic advisors are often overwhelmed with high caseloads, leading to long wait times and insufficient personalized attention for every student.</a:t>
            </a:r>
          </a:p>
          <a:p>
            <a:pPr>
              <a:spcBef>
                <a:spcPts val="1000"/>
              </a:spcBef>
              <a:defRPr sz="1400" b="1">
                <a:solidFill>
                  <a:srgbClr val="1E3A8A"/>
                </a:solidFill>
              </a:defRPr>
            </a:pPr>
            <a:r>
              <a:rPr dirty="0"/>
              <a:t>• Inconsistent Guidance</a:t>
            </a:r>
          </a:p>
          <a:p>
            <a:pPr lvl="1">
              <a:spcBef>
                <a:spcPts val="200"/>
              </a:spcBef>
              <a:defRPr sz="1200">
                <a:solidFill>
                  <a:srgbClr val="1F2937"/>
                </a:solidFill>
              </a:defRPr>
            </a:pPr>
            <a:r>
              <a:rPr dirty="0"/>
              <a:t>Advice can vary significantly across advisors and departments, creating confusion and potentially misguiding students on critical academic paths.</a:t>
            </a:r>
          </a:p>
          <a:p>
            <a:pPr>
              <a:spcBef>
                <a:spcPts val="1000"/>
              </a:spcBef>
              <a:defRPr sz="1400" b="1">
                <a:solidFill>
                  <a:srgbClr val="1E3A8A"/>
                </a:solidFill>
              </a:defRPr>
            </a:pPr>
            <a:r>
              <a:rPr dirty="0"/>
              <a:t>• Manual Degree Tracking</a:t>
            </a:r>
          </a:p>
          <a:p>
            <a:pPr lvl="1">
              <a:spcBef>
                <a:spcPts val="200"/>
              </a:spcBef>
              <a:defRPr sz="1200">
                <a:solidFill>
                  <a:srgbClr val="1F2937"/>
                </a:solidFill>
              </a:defRPr>
            </a:pPr>
            <a:r>
              <a:rPr dirty="0"/>
              <a:t>Navigating complex prerequisite chains, degree requirements, and course availability manually is time-consuming and prone to human error.</a:t>
            </a:r>
          </a:p>
          <a:p>
            <a:pPr>
              <a:spcBef>
                <a:spcPts val="1000"/>
              </a:spcBef>
              <a:defRPr sz="1400" b="1">
                <a:solidFill>
                  <a:srgbClr val="1E3A8A"/>
                </a:solidFill>
              </a:defRPr>
            </a:pPr>
            <a:r>
              <a:rPr dirty="0"/>
              <a:t>• Fragmented Information</a:t>
            </a:r>
          </a:p>
          <a:p>
            <a:pPr lvl="1">
              <a:spcBef>
                <a:spcPts val="200"/>
              </a:spcBef>
              <a:defRPr sz="1200">
                <a:solidFill>
                  <a:srgbClr val="1F2937"/>
                </a:solidFill>
              </a:defRPr>
            </a:pPr>
            <a:r>
              <a:rPr dirty="0"/>
              <a:t>Essential academic information is often scattered across disparate systems and static documents.</a:t>
            </a:r>
          </a:p>
        </p:txBody>
      </p:sp>
      <p:sp>
        <p:nvSpPr>
          <p:cNvPr id="6" name="TextBox 5"/>
          <p:cNvSpPr txBox="1"/>
          <p:nvPr/>
        </p:nvSpPr>
        <p:spPr>
          <a:xfrm>
            <a:off x="4800600" y="1828800"/>
            <a:ext cx="3886200" cy="365760"/>
          </a:xfrm>
          <a:prstGeom prst="rect">
            <a:avLst/>
          </a:prstGeom>
          <a:noFill/>
        </p:spPr>
        <p:txBody>
          <a:bodyPr wrap="none">
            <a:spAutoFit/>
          </a:bodyPr>
          <a:lstStyle/>
          <a:p>
            <a:pPr>
              <a:defRPr sz="2200" b="1">
                <a:solidFill>
                  <a:srgbClr val="1E3A8A"/>
                </a:solidFill>
              </a:defRPr>
            </a:pPr>
            <a:r>
              <a:t>Impact &amp; Opportunities</a:t>
            </a:r>
          </a:p>
        </p:txBody>
      </p:sp>
      <p:sp>
        <p:nvSpPr>
          <p:cNvPr id="7" name="TextBox 6"/>
          <p:cNvSpPr txBox="1"/>
          <p:nvPr/>
        </p:nvSpPr>
        <p:spPr>
          <a:xfrm>
            <a:off x="4800600" y="2286000"/>
            <a:ext cx="3886200" cy="4114800"/>
          </a:xfrm>
          <a:prstGeom prst="rect">
            <a:avLst/>
          </a:prstGeom>
          <a:noFill/>
        </p:spPr>
        <p:txBody>
          <a:bodyPr wrap="square">
            <a:spAutoFit/>
          </a:bodyPr>
          <a:lstStyle/>
          <a:p>
            <a:pPr>
              <a:spcBef>
                <a:spcPts val="0"/>
              </a:spcBef>
              <a:defRPr sz="1400" b="1">
                <a:solidFill>
                  <a:srgbClr val="1E3A8A"/>
                </a:solidFill>
              </a:defRPr>
            </a:pPr>
            <a:r>
              <a:t>• Suboptimal Course Planning</a:t>
            </a:r>
          </a:p>
          <a:p>
            <a:pPr lvl="1">
              <a:spcBef>
                <a:spcPts val="200"/>
              </a:spcBef>
              <a:defRPr sz="1200">
                <a:solidFill>
                  <a:srgbClr val="1F2937"/>
                </a:solidFill>
              </a:defRPr>
            </a:pPr>
            <a:r>
              <a:t>Students may choose unsuitable courses, leading to imbalanced workloads or missed opportunities.</a:t>
            </a:r>
          </a:p>
          <a:p>
            <a:pPr>
              <a:spcBef>
                <a:spcPts val="1000"/>
              </a:spcBef>
              <a:defRPr sz="1400" b="1">
                <a:solidFill>
                  <a:srgbClr val="1E3A8A"/>
                </a:solidFill>
              </a:defRPr>
            </a:pPr>
            <a:r>
              <a:t>• Delayed Graduation</a:t>
            </a:r>
          </a:p>
          <a:p>
            <a:pPr lvl="1">
              <a:spcBef>
                <a:spcPts val="200"/>
              </a:spcBef>
              <a:defRPr sz="1200">
                <a:solidFill>
                  <a:srgbClr val="1F2937"/>
                </a:solidFill>
              </a:defRPr>
            </a:pPr>
            <a:r>
              <a:t>Errors in course selection or forgotten prerequisites can unnecessarily extend a student's time to degree completion.</a:t>
            </a:r>
          </a:p>
          <a:p>
            <a:pPr>
              <a:spcBef>
                <a:spcPts val="1000"/>
              </a:spcBef>
              <a:defRPr sz="1400" b="1">
                <a:solidFill>
                  <a:srgbClr val="1E3A8A"/>
                </a:solidFill>
              </a:defRPr>
            </a:pPr>
            <a:r>
              <a:t>• Decreased Student Satisfaction</a:t>
            </a:r>
          </a:p>
          <a:p>
            <a:pPr lvl="1">
              <a:spcBef>
                <a:spcPts val="200"/>
              </a:spcBef>
              <a:defRPr sz="1200">
                <a:solidFill>
                  <a:srgbClr val="1F2937"/>
                </a:solidFill>
              </a:defRPr>
            </a:pPr>
            <a:r>
              <a:t>Frustration from inaccessible or inconsistent advising can lead to disengagement and lower academic performance.</a:t>
            </a:r>
          </a:p>
          <a:p>
            <a:pPr>
              <a:spcBef>
                <a:spcPts val="1000"/>
              </a:spcBef>
              <a:defRPr sz="1400" b="1">
                <a:solidFill>
                  <a:srgbClr val="1E3A8A"/>
                </a:solidFill>
              </a:defRPr>
            </a:pPr>
            <a:r>
              <a:t>• Lack of Clarity</a:t>
            </a:r>
          </a:p>
          <a:p>
            <a:pPr lvl="1">
              <a:spcBef>
                <a:spcPts val="200"/>
              </a:spcBef>
              <a:defRPr sz="1200">
                <a:solidFill>
                  <a:srgbClr val="1F2937"/>
                </a:solidFill>
              </a:defRPr>
            </a:pPr>
            <a:r>
              <a:t>Students struggle to visualize their academic journey, making it difficult to confidently plan future semesters.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1E3A8A"/>
                </a:solidFill>
              </a:defRPr>
            </a:pPr>
            <a:r>
              <a:t>Motivation &amp; Value Proposition</a:t>
            </a:r>
          </a:p>
        </p:txBody>
      </p:sp>
      <p:sp>
        <p:nvSpPr>
          <p:cNvPr id="3" name="TextBox 2"/>
          <p:cNvSpPr txBox="1"/>
          <p:nvPr/>
        </p:nvSpPr>
        <p:spPr>
          <a:xfrm>
            <a:off x="457200" y="1188720"/>
            <a:ext cx="8229600" cy="365760"/>
          </a:xfrm>
          <a:prstGeom prst="rect">
            <a:avLst/>
          </a:prstGeom>
          <a:noFill/>
        </p:spPr>
        <p:txBody>
          <a:bodyPr wrap="none">
            <a:spAutoFit/>
          </a:bodyPr>
          <a:lstStyle/>
          <a:p>
            <a:pPr algn="ctr">
              <a:defRPr sz="1400" i="1">
                <a:solidFill>
                  <a:srgbClr val="6B7280"/>
                </a:solidFill>
              </a:defRPr>
            </a:pPr>
            <a:r>
              <a:t>Understanding the core reasons behind the Smart Academic Advisor System and the unique benefits it offers.</a:t>
            </a:r>
          </a:p>
        </p:txBody>
      </p:sp>
      <p:sp>
        <p:nvSpPr>
          <p:cNvPr id="4" name="TextBox 3"/>
          <p:cNvSpPr txBox="1"/>
          <p:nvPr/>
        </p:nvSpPr>
        <p:spPr>
          <a:xfrm>
            <a:off x="457200" y="1828800"/>
            <a:ext cx="3886200" cy="365760"/>
          </a:xfrm>
          <a:prstGeom prst="rect">
            <a:avLst/>
          </a:prstGeom>
          <a:noFill/>
        </p:spPr>
        <p:txBody>
          <a:bodyPr wrap="none">
            <a:spAutoFit/>
          </a:bodyPr>
          <a:lstStyle/>
          <a:p>
            <a:pPr>
              <a:defRPr sz="2200" b="1">
                <a:solidFill>
                  <a:srgbClr val="F59E0B"/>
                </a:solidFill>
              </a:defRPr>
            </a:pPr>
            <a:r>
              <a:t>Our Motivation</a:t>
            </a:r>
          </a:p>
        </p:txBody>
      </p:sp>
      <p:sp>
        <p:nvSpPr>
          <p:cNvPr id="5" name="TextBox 4"/>
          <p:cNvSpPr txBox="1"/>
          <p:nvPr/>
        </p:nvSpPr>
        <p:spPr>
          <a:xfrm>
            <a:off x="457200" y="2286000"/>
            <a:ext cx="3886200" cy="4114800"/>
          </a:xfrm>
          <a:prstGeom prst="rect">
            <a:avLst/>
          </a:prstGeom>
          <a:noFill/>
        </p:spPr>
        <p:txBody>
          <a:bodyPr wrap="square">
            <a:spAutoFit/>
          </a:bodyPr>
          <a:lstStyle/>
          <a:p>
            <a:pPr>
              <a:spcBef>
                <a:spcPts val="0"/>
              </a:spcBef>
              <a:defRPr sz="1400" b="1">
                <a:solidFill>
                  <a:srgbClr val="1E3A8A"/>
                </a:solidFill>
              </a:defRPr>
            </a:pPr>
            <a:r>
              <a:rPr dirty="0"/>
              <a:t>• Equitable Access</a:t>
            </a:r>
          </a:p>
          <a:p>
            <a:pPr lvl="1">
              <a:spcBef>
                <a:spcPts val="200"/>
              </a:spcBef>
              <a:defRPr sz="1200">
                <a:solidFill>
                  <a:srgbClr val="1F2937"/>
                </a:solidFill>
              </a:defRPr>
            </a:pPr>
            <a:r>
              <a:rPr dirty="0"/>
              <a:t>Ensure every student receives timely, consistent, and personalized academic guidance.</a:t>
            </a:r>
          </a:p>
          <a:p>
            <a:pPr>
              <a:spcBef>
                <a:spcPts val="1000"/>
              </a:spcBef>
              <a:defRPr sz="1400" b="1">
                <a:solidFill>
                  <a:srgbClr val="1E3A8A"/>
                </a:solidFill>
              </a:defRPr>
            </a:pPr>
            <a:r>
              <a:rPr dirty="0"/>
              <a:t>• Enhanced Advisor Efficiency</a:t>
            </a:r>
          </a:p>
          <a:p>
            <a:pPr lvl="1">
              <a:spcBef>
                <a:spcPts val="200"/>
              </a:spcBef>
              <a:defRPr sz="1200">
                <a:solidFill>
                  <a:srgbClr val="1F2937"/>
                </a:solidFill>
              </a:defRPr>
            </a:pPr>
            <a:r>
              <a:rPr dirty="0"/>
              <a:t>Reduce administrative burden and empower advisors to focus on complex cases and mentorship.</a:t>
            </a:r>
          </a:p>
          <a:p>
            <a:pPr>
              <a:spcBef>
                <a:spcPts val="1000"/>
              </a:spcBef>
              <a:defRPr sz="1400" b="1">
                <a:solidFill>
                  <a:srgbClr val="1E3A8A"/>
                </a:solidFill>
              </a:defRPr>
            </a:pPr>
            <a:r>
              <a:rPr dirty="0"/>
              <a:t>• Actionable Knowledge</a:t>
            </a:r>
          </a:p>
          <a:p>
            <a:pPr lvl="1">
              <a:spcBef>
                <a:spcPts val="200"/>
              </a:spcBef>
              <a:defRPr sz="1200">
                <a:solidFill>
                  <a:srgbClr val="1F2937"/>
                </a:solidFill>
              </a:defRPr>
            </a:pPr>
            <a:r>
              <a:rPr dirty="0"/>
              <a:t>Transform static university resources into an interactive, </a:t>
            </a:r>
            <a:r>
              <a:rPr dirty="0" err="1"/>
              <a:t>queryable</a:t>
            </a:r>
            <a:r>
              <a:rPr dirty="0"/>
              <a:t> knowledge base.</a:t>
            </a:r>
          </a:p>
        </p:txBody>
      </p:sp>
      <p:sp>
        <p:nvSpPr>
          <p:cNvPr id="6" name="TextBox 5"/>
          <p:cNvSpPr txBox="1"/>
          <p:nvPr/>
        </p:nvSpPr>
        <p:spPr>
          <a:xfrm>
            <a:off x="4800600" y="1828800"/>
            <a:ext cx="3886200" cy="365760"/>
          </a:xfrm>
          <a:prstGeom prst="rect">
            <a:avLst/>
          </a:prstGeom>
          <a:noFill/>
        </p:spPr>
        <p:txBody>
          <a:bodyPr wrap="none">
            <a:spAutoFit/>
          </a:bodyPr>
          <a:lstStyle/>
          <a:p>
            <a:pPr>
              <a:defRPr sz="2200" b="1">
                <a:solidFill>
                  <a:srgbClr val="1E3A8A"/>
                </a:solidFill>
              </a:defRPr>
            </a:pPr>
            <a:r>
              <a:t>Our Value Proposition</a:t>
            </a:r>
          </a:p>
        </p:txBody>
      </p:sp>
      <p:sp>
        <p:nvSpPr>
          <p:cNvPr id="7" name="TextBox 6"/>
          <p:cNvSpPr txBox="1"/>
          <p:nvPr/>
        </p:nvSpPr>
        <p:spPr>
          <a:xfrm>
            <a:off x="4800600" y="2286000"/>
            <a:ext cx="3886200" cy="4114800"/>
          </a:xfrm>
          <a:prstGeom prst="rect">
            <a:avLst/>
          </a:prstGeom>
          <a:noFill/>
        </p:spPr>
        <p:txBody>
          <a:bodyPr wrap="square">
            <a:spAutoFit/>
          </a:bodyPr>
          <a:lstStyle/>
          <a:p>
            <a:pPr>
              <a:spcBef>
                <a:spcPts val="0"/>
              </a:spcBef>
              <a:defRPr sz="1400" b="1">
                <a:solidFill>
                  <a:srgbClr val="1E3A8A"/>
                </a:solidFill>
              </a:defRPr>
            </a:pPr>
            <a:r>
              <a:rPr dirty="0"/>
              <a:t>• 24/7 Intelligent Advisor</a:t>
            </a:r>
          </a:p>
          <a:p>
            <a:pPr lvl="1">
              <a:spcBef>
                <a:spcPts val="200"/>
              </a:spcBef>
              <a:defRPr sz="1200">
                <a:solidFill>
                  <a:srgbClr val="1F2937"/>
                </a:solidFill>
              </a:defRPr>
            </a:pPr>
            <a:r>
              <a:rPr dirty="0"/>
              <a:t>Always-on AI assistant provides immediate, context-aware responses around the clock.</a:t>
            </a:r>
          </a:p>
          <a:p>
            <a:pPr>
              <a:spcBef>
                <a:spcPts val="1000"/>
              </a:spcBef>
              <a:defRPr sz="1400" b="1">
                <a:solidFill>
                  <a:srgbClr val="1E3A8A"/>
                </a:solidFill>
              </a:defRPr>
            </a:pPr>
            <a:r>
              <a:rPr dirty="0"/>
              <a:t>• Robust &amp; Reliable Logic</a:t>
            </a:r>
          </a:p>
          <a:p>
            <a:pPr lvl="1">
              <a:spcBef>
                <a:spcPts val="200"/>
              </a:spcBef>
              <a:defRPr sz="1200">
                <a:solidFill>
                  <a:srgbClr val="1F2937"/>
                </a:solidFill>
              </a:defRPr>
            </a:pPr>
            <a:r>
              <a:rPr dirty="0"/>
              <a:t>Knowledge Graph ensures accuracy in prerequisite validation and degree tracking.</a:t>
            </a:r>
          </a:p>
          <a:p>
            <a:pPr>
              <a:spcBef>
                <a:spcPts val="1000"/>
              </a:spcBef>
              <a:defRPr sz="1400" b="1">
                <a:solidFill>
                  <a:srgbClr val="1E3A8A"/>
                </a:solidFill>
              </a:defRPr>
            </a:pPr>
            <a:r>
              <a:rPr dirty="0"/>
              <a:t>• Data-Driven Recommendations</a:t>
            </a:r>
          </a:p>
          <a:p>
            <a:pPr lvl="1">
              <a:spcBef>
                <a:spcPts val="200"/>
              </a:spcBef>
              <a:defRPr sz="1200">
                <a:solidFill>
                  <a:srgbClr val="1F2937"/>
                </a:solidFill>
              </a:defRPr>
            </a:pPr>
            <a:r>
              <a:rPr dirty="0"/>
              <a:t>All guidance grounded in official university documents and real-time student data.</a:t>
            </a:r>
          </a:p>
          <a:p>
            <a:pPr>
              <a:spcBef>
                <a:spcPts val="1000"/>
              </a:spcBef>
              <a:defRPr sz="1400" b="1">
                <a:solidFill>
                  <a:srgbClr val="1E3A8A"/>
                </a:solidFill>
              </a:defRPr>
            </a:pPr>
            <a:r>
              <a:rPr dirty="0"/>
              <a:t>• Seamless User Experience</a:t>
            </a:r>
          </a:p>
          <a:p>
            <a:pPr lvl="1">
              <a:spcBef>
                <a:spcPts val="200"/>
              </a:spcBef>
              <a:defRPr sz="1200">
                <a:solidFill>
                  <a:srgbClr val="1F2937"/>
                </a:solidFill>
              </a:defRPr>
            </a:pPr>
            <a:r>
              <a:rPr dirty="0"/>
              <a:t>Natural language chat interface integrated with each student's academic profile.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1E3A8A"/>
                </a:solidFill>
              </a:defRPr>
            </a:pPr>
            <a:r>
              <a:t>Related Work Summary</a:t>
            </a:r>
          </a:p>
        </p:txBody>
      </p:sp>
      <p:sp>
        <p:nvSpPr>
          <p:cNvPr id="3" name="Rounded Rectangle 2"/>
          <p:cNvSpPr/>
          <p:nvPr/>
        </p:nvSpPr>
        <p:spPr>
          <a:xfrm>
            <a:off x="457200" y="1645920"/>
            <a:ext cx="8229600" cy="1051560"/>
          </a:xfrm>
          <a:prstGeom prst="roundRect">
            <a:avLst/>
          </a:prstGeom>
          <a:solidFill>
            <a:srgbClr val="F8FAFC"/>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737360"/>
            <a:ext cx="7863840" cy="274320"/>
          </a:xfrm>
          <a:prstGeom prst="rect">
            <a:avLst/>
          </a:prstGeom>
          <a:noFill/>
        </p:spPr>
        <p:txBody>
          <a:bodyPr wrap="none">
            <a:spAutoFit/>
          </a:bodyPr>
          <a:lstStyle/>
          <a:p>
            <a:pPr>
              <a:defRPr sz="1600" b="1">
                <a:solidFill>
                  <a:srgbClr val="1E3A8A"/>
                </a:solidFill>
              </a:defRPr>
            </a:pPr>
            <a:r>
              <a:t>Scope</a:t>
            </a:r>
          </a:p>
        </p:txBody>
      </p:sp>
      <p:sp>
        <p:nvSpPr>
          <p:cNvPr id="5" name="TextBox 4"/>
          <p:cNvSpPr txBox="1"/>
          <p:nvPr/>
        </p:nvSpPr>
        <p:spPr>
          <a:xfrm>
            <a:off x="640080" y="2057400"/>
            <a:ext cx="7863840" cy="548640"/>
          </a:xfrm>
          <a:prstGeom prst="rect">
            <a:avLst/>
          </a:prstGeom>
          <a:noFill/>
        </p:spPr>
        <p:txBody>
          <a:bodyPr wrap="square">
            <a:spAutoFit/>
          </a:bodyPr>
          <a:lstStyle/>
          <a:p>
            <a:pPr>
              <a:lnSpc>
                <a:spcPct val="110000"/>
              </a:lnSpc>
              <a:defRPr sz="1300">
                <a:solidFill>
                  <a:srgbClr val="1F2937"/>
                </a:solidFill>
              </a:defRPr>
            </a:pPr>
            <a:r>
              <a:t>Recent research focuses on AI-based academic support systems that integrate LLMs, Knowledge Graphs, and RAG to improve accuracy, personalization, and trust.</a:t>
            </a:r>
          </a:p>
        </p:txBody>
      </p:sp>
      <p:sp>
        <p:nvSpPr>
          <p:cNvPr id="6" name="Rounded Rectangle 5"/>
          <p:cNvSpPr/>
          <p:nvPr/>
        </p:nvSpPr>
        <p:spPr>
          <a:xfrm>
            <a:off x="457200" y="2808480"/>
            <a:ext cx="8229600" cy="1051560"/>
          </a:xfrm>
          <a:prstGeom prst="roundRect">
            <a:avLst/>
          </a:prstGeom>
          <a:solidFill>
            <a:srgbClr val="F8FAFC"/>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834640"/>
            <a:ext cx="7863840" cy="274320"/>
          </a:xfrm>
          <a:prstGeom prst="rect">
            <a:avLst/>
          </a:prstGeom>
          <a:noFill/>
        </p:spPr>
        <p:txBody>
          <a:bodyPr wrap="none">
            <a:spAutoFit/>
          </a:bodyPr>
          <a:lstStyle/>
          <a:p>
            <a:pPr>
              <a:defRPr sz="1600" b="1">
                <a:solidFill>
                  <a:srgbClr val="1E3A8A"/>
                </a:solidFill>
              </a:defRPr>
            </a:pPr>
            <a:r>
              <a:rPr dirty="0"/>
              <a:t>Key Approaches</a:t>
            </a:r>
          </a:p>
        </p:txBody>
      </p:sp>
      <p:sp>
        <p:nvSpPr>
          <p:cNvPr id="8" name="TextBox 7"/>
          <p:cNvSpPr txBox="1"/>
          <p:nvPr/>
        </p:nvSpPr>
        <p:spPr>
          <a:xfrm>
            <a:off x="640080" y="3108960"/>
            <a:ext cx="7863840" cy="741485"/>
          </a:xfrm>
          <a:prstGeom prst="rect">
            <a:avLst/>
          </a:prstGeom>
          <a:noFill/>
        </p:spPr>
        <p:txBody>
          <a:bodyPr wrap="square">
            <a:spAutoFit/>
          </a:bodyPr>
          <a:lstStyle/>
          <a:p>
            <a:pPr>
              <a:lnSpc>
                <a:spcPct val="110000"/>
              </a:lnSpc>
              <a:defRPr sz="1300">
                <a:solidFill>
                  <a:srgbClr val="1F2937"/>
                </a:solidFill>
              </a:defRPr>
            </a:pPr>
            <a:r>
              <a:rPr dirty="0"/>
              <a:t>• </a:t>
            </a:r>
            <a:r>
              <a:rPr lang="en-US" dirty="0"/>
              <a:t>Rule-based Chatbots: Reliable for fixed queries, but limited flexibility</a:t>
            </a:r>
            <a:br>
              <a:rPr dirty="0"/>
            </a:br>
            <a:r>
              <a:rPr dirty="0"/>
              <a:t>• </a:t>
            </a:r>
            <a:r>
              <a:rPr lang="en-US" dirty="0"/>
              <a:t>LLM-based Advisors: Natural interaction, but risk hallucinations</a:t>
            </a:r>
            <a:endParaRPr lang="ar-EG" dirty="0"/>
          </a:p>
          <a:p>
            <a:pPr>
              <a:lnSpc>
                <a:spcPct val="110000"/>
              </a:lnSpc>
              <a:defRPr sz="1300">
                <a:solidFill>
                  <a:srgbClr val="1F2937"/>
                </a:solidFill>
              </a:defRPr>
            </a:pPr>
            <a:r>
              <a:rPr dirty="0"/>
              <a:t>• </a:t>
            </a:r>
            <a:r>
              <a:rPr lang="en-US" dirty="0"/>
              <a:t>Knowledge Graph Reasoning: Ensures prerequisite correctness and explainability</a:t>
            </a:r>
            <a:endParaRPr dirty="0"/>
          </a:p>
        </p:txBody>
      </p:sp>
      <p:sp>
        <p:nvSpPr>
          <p:cNvPr id="9" name="Rounded Rectangle 8"/>
          <p:cNvSpPr/>
          <p:nvPr/>
        </p:nvSpPr>
        <p:spPr>
          <a:xfrm>
            <a:off x="457200" y="3971041"/>
            <a:ext cx="8239991" cy="1292568"/>
          </a:xfrm>
          <a:prstGeom prst="roundRect">
            <a:avLst/>
          </a:prstGeom>
          <a:solidFill>
            <a:srgbClr val="F8FAFC"/>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971040"/>
            <a:ext cx="7863840" cy="274320"/>
          </a:xfrm>
          <a:prstGeom prst="rect">
            <a:avLst/>
          </a:prstGeom>
          <a:noFill/>
        </p:spPr>
        <p:txBody>
          <a:bodyPr wrap="none">
            <a:spAutoFit/>
          </a:bodyPr>
          <a:lstStyle/>
          <a:p>
            <a:pPr>
              <a:defRPr sz="1600" b="1">
                <a:solidFill>
                  <a:srgbClr val="1E3A8A"/>
                </a:solidFill>
              </a:defRPr>
            </a:pPr>
            <a:r>
              <a:rPr dirty="0"/>
              <a:t>Main Findings</a:t>
            </a:r>
          </a:p>
        </p:txBody>
      </p:sp>
      <p:sp>
        <p:nvSpPr>
          <p:cNvPr id="11" name="TextBox 10"/>
          <p:cNvSpPr txBox="1"/>
          <p:nvPr/>
        </p:nvSpPr>
        <p:spPr>
          <a:xfrm>
            <a:off x="640080" y="4273712"/>
            <a:ext cx="3931920" cy="961545"/>
          </a:xfrm>
          <a:prstGeom prst="rect">
            <a:avLst/>
          </a:prstGeom>
          <a:noFill/>
        </p:spPr>
        <p:txBody>
          <a:bodyPr wrap="square">
            <a:spAutoFit/>
          </a:bodyPr>
          <a:lstStyle/>
          <a:p>
            <a:pPr>
              <a:lnSpc>
                <a:spcPct val="110000"/>
              </a:lnSpc>
              <a:defRPr sz="1300">
                <a:solidFill>
                  <a:srgbClr val="1F2937"/>
                </a:solidFill>
              </a:defRPr>
            </a:pPr>
            <a:r>
              <a:rPr lang="en-US" dirty="0"/>
              <a:t>LLMs improve usability but need grounding</a:t>
            </a:r>
          </a:p>
          <a:p>
            <a:pPr>
              <a:lnSpc>
                <a:spcPct val="110000"/>
              </a:lnSpc>
              <a:defRPr sz="1300">
                <a:solidFill>
                  <a:srgbClr val="1F2937"/>
                </a:solidFill>
              </a:defRPr>
            </a:pPr>
            <a:r>
              <a:rPr lang="en-US" dirty="0"/>
              <a:t>RAG reduces hallucinations through retrieval</a:t>
            </a:r>
          </a:p>
          <a:p>
            <a:pPr>
              <a:lnSpc>
                <a:spcPct val="110000"/>
              </a:lnSpc>
              <a:defRPr sz="1300">
                <a:solidFill>
                  <a:srgbClr val="1F2937"/>
                </a:solidFill>
              </a:defRPr>
            </a:pPr>
            <a:r>
              <a:rPr lang="en-US" dirty="0"/>
              <a:t>Knowledge Graphs improve decision correctness</a:t>
            </a:r>
          </a:p>
          <a:p>
            <a:pPr>
              <a:lnSpc>
                <a:spcPct val="110000"/>
              </a:lnSpc>
              <a:defRPr sz="1300">
                <a:solidFill>
                  <a:srgbClr val="1F2937"/>
                </a:solidFill>
              </a:defRPr>
            </a:pPr>
            <a:r>
              <a:rPr lang="en-US" dirty="0"/>
              <a:t>Hybrid approaches achieve the highest reliability</a:t>
            </a:r>
          </a:p>
        </p:txBody>
      </p:sp>
      <p:sp>
        <p:nvSpPr>
          <p:cNvPr id="12" name="Rounded Rectangle 11"/>
          <p:cNvSpPr/>
          <p:nvPr/>
        </p:nvSpPr>
        <p:spPr>
          <a:xfrm>
            <a:off x="457200" y="5349240"/>
            <a:ext cx="8229600" cy="1051560"/>
          </a:xfrm>
          <a:prstGeom prst="roundRect">
            <a:avLst/>
          </a:prstGeom>
          <a:solidFill>
            <a:srgbClr val="F8FAFC"/>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5440679"/>
            <a:ext cx="7863840" cy="274320"/>
          </a:xfrm>
          <a:prstGeom prst="rect">
            <a:avLst/>
          </a:prstGeom>
          <a:noFill/>
        </p:spPr>
        <p:txBody>
          <a:bodyPr wrap="none">
            <a:spAutoFit/>
          </a:bodyPr>
          <a:lstStyle/>
          <a:p>
            <a:pPr>
              <a:defRPr sz="1600" b="1">
                <a:solidFill>
                  <a:srgbClr val="1E3A8A"/>
                </a:solidFill>
              </a:defRPr>
            </a:pPr>
            <a:r>
              <a:t>Research Gap</a:t>
            </a:r>
          </a:p>
        </p:txBody>
      </p:sp>
      <p:sp>
        <p:nvSpPr>
          <p:cNvPr id="14" name="TextBox 13"/>
          <p:cNvSpPr txBox="1"/>
          <p:nvPr/>
        </p:nvSpPr>
        <p:spPr>
          <a:xfrm>
            <a:off x="640080" y="5760720"/>
            <a:ext cx="7863840" cy="741485"/>
          </a:xfrm>
          <a:prstGeom prst="rect">
            <a:avLst/>
          </a:prstGeom>
          <a:noFill/>
        </p:spPr>
        <p:txBody>
          <a:bodyPr wrap="square">
            <a:spAutoFit/>
          </a:bodyPr>
          <a:lstStyle/>
          <a:p>
            <a:pPr>
              <a:lnSpc>
                <a:spcPct val="110000"/>
              </a:lnSpc>
              <a:defRPr sz="1300">
                <a:solidFill>
                  <a:srgbClr val="1F2937"/>
                </a:solidFill>
              </a:defRPr>
            </a:pPr>
            <a:r>
              <a:rPr lang="en-US" sz="1300" dirty="0"/>
              <a:t>Current systems often struggle with balancing </a:t>
            </a:r>
            <a:r>
              <a:rPr lang="en-US" sz="1300" b="1" dirty="0"/>
              <a:t>natural conversation</a:t>
            </a:r>
            <a:r>
              <a:rPr lang="en-US" sz="1300" dirty="0"/>
              <a:t> and </a:t>
            </a:r>
            <a:r>
              <a:rPr lang="en-US" sz="1300" b="1" dirty="0"/>
              <a:t>reliable prerequisite-based course planning</a:t>
            </a:r>
            <a:r>
              <a:rPr lang="en-US" sz="1300" dirty="0"/>
              <a:t> in one unified solution.</a:t>
            </a:r>
          </a:p>
          <a:p>
            <a:pPr>
              <a:lnSpc>
                <a:spcPct val="110000"/>
              </a:lnSpc>
              <a:defRPr sz="1300">
                <a:solidFill>
                  <a:srgbClr val="1F2937"/>
                </a:solidFill>
              </a:defRPr>
            </a:pPr>
            <a:r>
              <a:rPr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1E3A8A"/>
                </a:solidFill>
              </a:defRPr>
            </a:pPr>
            <a:r>
              <a:t>Business Model Overview</a:t>
            </a:r>
          </a:p>
        </p:txBody>
      </p:sp>
      <p:sp>
        <p:nvSpPr>
          <p:cNvPr id="3" name="TextBox 2"/>
          <p:cNvSpPr txBox="1"/>
          <p:nvPr/>
        </p:nvSpPr>
        <p:spPr>
          <a:xfrm>
            <a:off x="640080" y="1645920"/>
            <a:ext cx="2286000" cy="365760"/>
          </a:xfrm>
          <a:prstGeom prst="rect">
            <a:avLst/>
          </a:prstGeom>
          <a:noFill/>
        </p:spPr>
        <p:txBody>
          <a:bodyPr wrap="none">
            <a:spAutoFit/>
          </a:bodyPr>
          <a:lstStyle/>
          <a:p>
            <a:pPr>
              <a:defRPr sz="1500" b="1">
                <a:solidFill>
                  <a:srgbClr val="1E3A8A"/>
                </a:solidFill>
              </a:defRPr>
            </a:pPr>
            <a:r>
              <a:t>Value Proposition:</a:t>
            </a:r>
          </a:p>
        </p:txBody>
      </p:sp>
      <p:sp>
        <p:nvSpPr>
          <p:cNvPr id="4" name="TextBox 3"/>
          <p:cNvSpPr txBox="1"/>
          <p:nvPr/>
        </p:nvSpPr>
        <p:spPr>
          <a:xfrm>
            <a:off x="3017520" y="1645920"/>
            <a:ext cx="5669280" cy="457200"/>
          </a:xfrm>
          <a:prstGeom prst="rect">
            <a:avLst/>
          </a:prstGeom>
          <a:noFill/>
        </p:spPr>
        <p:txBody>
          <a:bodyPr wrap="square">
            <a:spAutoFit/>
          </a:bodyPr>
          <a:lstStyle/>
          <a:p>
            <a:pPr>
              <a:defRPr sz="1400">
                <a:solidFill>
                  <a:srgbClr val="1F2937"/>
                </a:solidFill>
              </a:defRPr>
            </a:pPr>
            <a:r>
              <a:t>AI-powered, real-time academic advising that improves course planning accuracy, reduces advising delays, and enhances student satisfaction.</a:t>
            </a:r>
          </a:p>
        </p:txBody>
      </p:sp>
      <p:sp>
        <p:nvSpPr>
          <p:cNvPr id="5" name="TextBox 4"/>
          <p:cNvSpPr txBox="1"/>
          <p:nvPr/>
        </p:nvSpPr>
        <p:spPr>
          <a:xfrm>
            <a:off x="640080" y="2286000"/>
            <a:ext cx="2286000" cy="365760"/>
          </a:xfrm>
          <a:prstGeom prst="rect">
            <a:avLst/>
          </a:prstGeom>
          <a:noFill/>
        </p:spPr>
        <p:txBody>
          <a:bodyPr wrap="none">
            <a:spAutoFit/>
          </a:bodyPr>
          <a:lstStyle/>
          <a:p>
            <a:pPr>
              <a:defRPr sz="1500" b="1">
                <a:solidFill>
                  <a:srgbClr val="1E3A8A"/>
                </a:solidFill>
              </a:defRPr>
            </a:pPr>
            <a:r>
              <a:t>Customers:</a:t>
            </a:r>
          </a:p>
        </p:txBody>
      </p:sp>
      <p:sp>
        <p:nvSpPr>
          <p:cNvPr id="6" name="TextBox 5"/>
          <p:cNvSpPr txBox="1"/>
          <p:nvPr/>
        </p:nvSpPr>
        <p:spPr>
          <a:xfrm>
            <a:off x="3017520" y="2286000"/>
            <a:ext cx="5669280" cy="457200"/>
          </a:xfrm>
          <a:prstGeom prst="rect">
            <a:avLst/>
          </a:prstGeom>
          <a:noFill/>
        </p:spPr>
        <p:txBody>
          <a:bodyPr wrap="square">
            <a:spAutoFit/>
          </a:bodyPr>
          <a:lstStyle/>
          <a:p>
            <a:pPr>
              <a:defRPr sz="1400">
                <a:solidFill>
                  <a:srgbClr val="1F2937"/>
                </a:solidFill>
              </a:defRPr>
            </a:pPr>
            <a:r>
              <a:t>Universities, academic advising departments, and students.</a:t>
            </a:r>
          </a:p>
        </p:txBody>
      </p:sp>
      <p:sp>
        <p:nvSpPr>
          <p:cNvPr id="7" name="TextBox 6"/>
          <p:cNvSpPr txBox="1"/>
          <p:nvPr/>
        </p:nvSpPr>
        <p:spPr>
          <a:xfrm>
            <a:off x="640080" y="2926080"/>
            <a:ext cx="2286000" cy="365760"/>
          </a:xfrm>
          <a:prstGeom prst="rect">
            <a:avLst/>
          </a:prstGeom>
          <a:noFill/>
        </p:spPr>
        <p:txBody>
          <a:bodyPr wrap="none">
            <a:spAutoFit/>
          </a:bodyPr>
          <a:lstStyle/>
          <a:p>
            <a:pPr>
              <a:defRPr sz="1500" b="1">
                <a:solidFill>
                  <a:srgbClr val="1E3A8A"/>
                </a:solidFill>
              </a:defRPr>
            </a:pPr>
            <a:r>
              <a:t>Channels:</a:t>
            </a:r>
          </a:p>
        </p:txBody>
      </p:sp>
      <p:sp>
        <p:nvSpPr>
          <p:cNvPr id="8" name="TextBox 7"/>
          <p:cNvSpPr txBox="1"/>
          <p:nvPr/>
        </p:nvSpPr>
        <p:spPr>
          <a:xfrm>
            <a:off x="3017520" y="2926080"/>
            <a:ext cx="5669280" cy="457200"/>
          </a:xfrm>
          <a:prstGeom prst="rect">
            <a:avLst/>
          </a:prstGeom>
          <a:noFill/>
        </p:spPr>
        <p:txBody>
          <a:bodyPr wrap="square">
            <a:spAutoFit/>
          </a:bodyPr>
          <a:lstStyle/>
          <a:p>
            <a:pPr>
              <a:defRPr sz="1400">
                <a:solidFill>
                  <a:srgbClr val="1F2937"/>
                </a:solidFill>
              </a:defRPr>
            </a:pPr>
            <a:r>
              <a:t>Mobile chatbot application integrated with university systems.</a:t>
            </a:r>
          </a:p>
        </p:txBody>
      </p:sp>
      <p:sp>
        <p:nvSpPr>
          <p:cNvPr id="9" name="TextBox 8"/>
          <p:cNvSpPr txBox="1"/>
          <p:nvPr/>
        </p:nvSpPr>
        <p:spPr>
          <a:xfrm>
            <a:off x="640080" y="3566160"/>
            <a:ext cx="2286000" cy="365760"/>
          </a:xfrm>
          <a:prstGeom prst="rect">
            <a:avLst/>
          </a:prstGeom>
          <a:noFill/>
        </p:spPr>
        <p:txBody>
          <a:bodyPr wrap="none">
            <a:spAutoFit/>
          </a:bodyPr>
          <a:lstStyle/>
          <a:p>
            <a:pPr>
              <a:defRPr sz="1500" b="1">
                <a:solidFill>
                  <a:srgbClr val="1E3A8A"/>
                </a:solidFill>
              </a:defRPr>
            </a:pPr>
            <a:r>
              <a:t>Customer Relationship:</a:t>
            </a:r>
          </a:p>
        </p:txBody>
      </p:sp>
      <p:sp>
        <p:nvSpPr>
          <p:cNvPr id="10" name="TextBox 9"/>
          <p:cNvSpPr txBox="1"/>
          <p:nvPr/>
        </p:nvSpPr>
        <p:spPr>
          <a:xfrm>
            <a:off x="3017520" y="3566160"/>
            <a:ext cx="5669280" cy="457200"/>
          </a:xfrm>
          <a:prstGeom prst="rect">
            <a:avLst/>
          </a:prstGeom>
          <a:noFill/>
        </p:spPr>
        <p:txBody>
          <a:bodyPr wrap="square">
            <a:spAutoFit/>
          </a:bodyPr>
          <a:lstStyle/>
          <a:p>
            <a:pPr>
              <a:defRPr sz="1400">
                <a:solidFill>
                  <a:srgbClr val="1F2937"/>
                </a:solidFill>
              </a:defRPr>
            </a:pPr>
            <a:r>
              <a:t>24/7 self-service advising with personalized, data-driven recommendations.</a:t>
            </a:r>
          </a:p>
        </p:txBody>
      </p:sp>
      <p:sp>
        <p:nvSpPr>
          <p:cNvPr id="11" name="TextBox 10"/>
          <p:cNvSpPr txBox="1"/>
          <p:nvPr/>
        </p:nvSpPr>
        <p:spPr>
          <a:xfrm>
            <a:off x="640080" y="4206240"/>
            <a:ext cx="2286000" cy="365760"/>
          </a:xfrm>
          <a:prstGeom prst="rect">
            <a:avLst/>
          </a:prstGeom>
          <a:noFill/>
        </p:spPr>
        <p:txBody>
          <a:bodyPr wrap="none">
            <a:spAutoFit/>
          </a:bodyPr>
          <a:lstStyle/>
          <a:p>
            <a:pPr>
              <a:defRPr sz="1500" b="1">
                <a:solidFill>
                  <a:srgbClr val="1E3A8A"/>
                </a:solidFill>
              </a:defRPr>
            </a:pPr>
            <a:r>
              <a:t>Revenue Model:</a:t>
            </a:r>
          </a:p>
        </p:txBody>
      </p:sp>
      <p:sp>
        <p:nvSpPr>
          <p:cNvPr id="12" name="TextBox 11"/>
          <p:cNvSpPr txBox="1"/>
          <p:nvPr/>
        </p:nvSpPr>
        <p:spPr>
          <a:xfrm>
            <a:off x="3017520" y="4206240"/>
            <a:ext cx="5669280" cy="457200"/>
          </a:xfrm>
          <a:prstGeom prst="rect">
            <a:avLst/>
          </a:prstGeom>
          <a:noFill/>
        </p:spPr>
        <p:txBody>
          <a:bodyPr wrap="square">
            <a:spAutoFit/>
          </a:bodyPr>
          <a:lstStyle/>
          <a:p>
            <a:pPr>
              <a:defRPr sz="1400">
                <a:solidFill>
                  <a:srgbClr val="1F2937"/>
                </a:solidFill>
              </a:defRPr>
            </a:pPr>
            <a:r>
              <a:t>Institutional subscriptions, setup fees, and ongoing support services.</a:t>
            </a:r>
          </a:p>
        </p:txBody>
      </p:sp>
      <p:sp>
        <p:nvSpPr>
          <p:cNvPr id="13" name="TextBox 12"/>
          <p:cNvSpPr txBox="1"/>
          <p:nvPr/>
        </p:nvSpPr>
        <p:spPr>
          <a:xfrm>
            <a:off x="640080" y="4846320"/>
            <a:ext cx="2286000" cy="365760"/>
          </a:xfrm>
          <a:prstGeom prst="rect">
            <a:avLst/>
          </a:prstGeom>
          <a:noFill/>
        </p:spPr>
        <p:txBody>
          <a:bodyPr wrap="none">
            <a:spAutoFit/>
          </a:bodyPr>
          <a:lstStyle/>
          <a:p>
            <a:pPr>
              <a:defRPr sz="1500" b="1">
                <a:solidFill>
                  <a:srgbClr val="1E3A8A"/>
                </a:solidFill>
              </a:defRPr>
            </a:pPr>
            <a:r>
              <a:t>Key Enablers:</a:t>
            </a:r>
          </a:p>
        </p:txBody>
      </p:sp>
      <p:sp>
        <p:nvSpPr>
          <p:cNvPr id="14" name="TextBox 13"/>
          <p:cNvSpPr txBox="1"/>
          <p:nvPr/>
        </p:nvSpPr>
        <p:spPr>
          <a:xfrm>
            <a:off x="3017520" y="4846320"/>
            <a:ext cx="5669280" cy="457200"/>
          </a:xfrm>
          <a:prstGeom prst="rect">
            <a:avLst/>
          </a:prstGeom>
          <a:noFill/>
        </p:spPr>
        <p:txBody>
          <a:bodyPr wrap="square">
            <a:spAutoFit/>
          </a:bodyPr>
          <a:lstStyle/>
          <a:p>
            <a:pPr>
              <a:defRPr sz="1400">
                <a:solidFill>
                  <a:srgbClr val="1F2937"/>
                </a:solidFill>
              </a:defRPr>
            </a:pPr>
            <a:r>
              <a:t>LLMs, Knowledge Graphs, RAG pipeline, academic data, and development team.</a:t>
            </a:r>
          </a:p>
        </p:txBody>
      </p:sp>
      <p:sp>
        <p:nvSpPr>
          <p:cNvPr id="15" name="TextBox 14"/>
          <p:cNvSpPr txBox="1"/>
          <p:nvPr/>
        </p:nvSpPr>
        <p:spPr>
          <a:xfrm>
            <a:off x="640080" y="5486400"/>
            <a:ext cx="2286000" cy="365760"/>
          </a:xfrm>
          <a:prstGeom prst="rect">
            <a:avLst/>
          </a:prstGeom>
          <a:noFill/>
        </p:spPr>
        <p:txBody>
          <a:bodyPr wrap="none">
            <a:spAutoFit/>
          </a:bodyPr>
          <a:lstStyle/>
          <a:p>
            <a:pPr>
              <a:defRPr sz="1500" b="1">
                <a:solidFill>
                  <a:srgbClr val="1E3A8A"/>
                </a:solidFill>
              </a:defRPr>
            </a:pPr>
            <a:r>
              <a:t>Partners &amp; Costs:</a:t>
            </a:r>
          </a:p>
        </p:txBody>
      </p:sp>
      <p:sp>
        <p:nvSpPr>
          <p:cNvPr id="16" name="TextBox 15"/>
          <p:cNvSpPr txBox="1"/>
          <p:nvPr/>
        </p:nvSpPr>
        <p:spPr>
          <a:xfrm>
            <a:off x="3017520" y="5486400"/>
            <a:ext cx="5669280" cy="457200"/>
          </a:xfrm>
          <a:prstGeom prst="rect">
            <a:avLst/>
          </a:prstGeom>
          <a:noFill/>
        </p:spPr>
        <p:txBody>
          <a:bodyPr wrap="square">
            <a:spAutoFit/>
          </a:bodyPr>
          <a:lstStyle/>
          <a:p>
            <a:pPr>
              <a:defRPr sz="1400">
                <a:solidFill>
                  <a:srgbClr val="1F2937"/>
                </a:solidFill>
              </a:defRPr>
            </a:pPr>
            <a:r>
              <a:t>Universities and academic advisors; costs include development, cloud infrastructure, and maintenance.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1E3A8A"/>
                </a:solidFill>
              </a:defRPr>
            </a:pPr>
            <a:r>
              <a:t>Methodology – Key Steps</a:t>
            </a:r>
          </a:p>
        </p:txBody>
      </p:sp>
      <p:sp>
        <p:nvSpPr>
          <p:cNvPr id="3" name="Rounded Rectangle 2"/>
          <p:cNvSpPr/>
          <p:nvPr/>
        </p:nvSpPr>
        <p:spPr>
          <a:xfrm>
            <a:off x="640080" y="1737360"/>
            <a:ext cx="548640" cy="5486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01</a:t>
            </a:r>
          </a:p>
        </p:txBody>
      </p:sp>
      <p:sp>
        <p:nvSpPr>
          <p:cNvPr id="4" name="TextBox 3"/>
          <p:cNvSpPr txBox="1"/>
          <p:nvPr/>
        </p:nvSpPr>
        <p:spPr>
          <a:xfrm>
            <a:off x="1371600" y="1737360"/>
            <a:ext cx="7315200" cy="320040"/>
          </a:xfrm>
          <a:prstGeom prst="rect">
            <a:avLst/>
          </a:prstGeom>
          <a:noFill/>
        </p:spPr>
        <p:txBody>
          <a:bodyPr wrap="none">
            <a:spAutoFit/>
          </a:bodyPr>
          <a:lstStyle/>
          <a:p>
            <a:pPr>
              <a:defRPr sz="2000" b="1">
                <a:solidFill>
                  <a:srgbClr val="1E3A8A"/>
                </a:solidFill>
              </a:defRPr>
            </a:pPr>
            <a:r>
              <a:t>Data Collection &amp; Preparation</a:t>
            </a:r>
          </a:p>
        </p:txBody>
      </p:sp>
      <p:sp>
        <p:nvSpPr>
          <p:cNvPr id="5" name="TextBox 4"/>
          <p:cNvSpPr txBox="1"/>
          <p:nvPr/>
        </p:nvSpPr>
        <p:spPr>
          <a:xfrm>
            <a:off x="1371600" y="2103120"/>
            <a:ext cx="7315200" cy="914400"/>
          </a:xfrm>
          <a:prstGeom prst="rect">
            <a:avLst/>
          </a:prstGeom>
          <a:noFill/>
        </p:spPr>
        <p:txBody>
          <a:bodyPr wrap="square">
            <a:spAutoFit/>
          </a:bodyPr>
          <a:lstStyle/>
          <a:p>
            <a:pPr>
              <a:lnSpc>
                <a:spcPct val="120000"/>
              </a:lnSpc>
              <a:defRPr sz="1400">
                <a:solidFill>
                  <a:srgbClr val="1F2937"/>
                </a:solidFill>
              </a:defRPr>
            </a:pPr>
            <a:r>
              <a:t>We initiate the process by meticulously collecting all relevant academic documentation, including course catalogs, university bylaws, and regulatory guidelines. This critical phase involves thorough text extraction and cleaning to ensure the reliability and accuracy of our data.</a:t>
            </a:r>
          </a:p>
        </p:txBody>
      </p:sp>
      <p:sp>
        <p:nvSpPr>
          <p:cNvPr id="6" name="Rounded Rectangle 5"/>
          <p:cNvSpPr/>
          <p:nvPr/>
        </p:nvSpPr>
        <p:spPr>
          <a:xfrm>
            <a:off x="640080" y="3291839"/>
            <a:ext cx="548640" cy="5486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02</a:t>
            </a:r>
          </a:p>
        </p:txBody>
      </p:sp>
      <p:sp>
        <p:nvSpPr>
          <p:cNvPr id="7" name="TextBox 6"/>
          <p:cNvSpPr txBox="1"/>
          <p:nvPr/>
        </p:nvSpPr>
        <p:spPr>
          <a:xfrm>
            <a:off x="1371600" y="3291839"/>
            <a:ext cx="7315200" cy="320040"/>
          </a:xfrm>
          <a:prstGeom prst="rect">
            <a:avLst/>
          </a:prstGeom>
          <a:noFill/>
        </p:spPr>
        <p:txBody>
          <a:bodyPr wrap="none">
            <a:spAutoFit/>
          </a:bodyPr>
          <a:lstStyle/>
          <a:p>
            <a:pPr>
              <a:defRPr sz="2000" b="1">
                <a:solidFill>
                  <a:srgbClr val="1E3A8A"/>
                </a:solidFill>
              </a:defRPr>
            </a:pPr>
            <a:r>
              <a:t>Knowledge Graph Construction</a:t>
            </a:r>
          </a:p>
        </p:txBody>
      </p:sp>
      <p:sp>
        <p:nvSpPr>
          <p:cNvPr id="8" name="TextBox 7"/>
          <p:cNvSpPr txBox="1"/>
          <p:nvPr/>
        </p:nvSpPr>
        <p:spPr>
          <a:xfrm>
            <a:off x="1371600" y="3657599"/>
            <a:ext cx="7315200" cy="914400"/>
          </a:xfrm>
          <a:prstGeom prst="rect">
            <a:avLst/>
          </a:prstGeom>
          <a:noFill/>
        </p:spPr>
        <p:txBody>
          <a:bodyPr wrap="square">
            <a:spAutoFit/>
          </a:bodyPr>
          <a:lstStyle/>
          <a:p>
            <a:pPr>
              <a:lnSpc>
                <a:spcPct val="120000"/>
              </a:lnSpc>
              <a:defRPr sz="1400">
                <a:solidFill>
                  <a:srgbClr val="1F2937"/>
                </a:solidFill>
              </a:defRPr>
            </a:pPr>
            <a:r>
              <a:t>A robust Knowledge Graph is constructed to semantically model the intricate academic relationships. This includes detailed representations of courses, prerequisites, major requirements, and comprehensive graduation rules.</a:t>
            </a:r>
          </a:p>
        </p:txBody>
      </p:sp>
      <p:sp>
        <p:nvSpPr>
          <p:cNvPr id="9" name="Rounded Rectangle 8"/>
          <p:cNvSpPr/>
          <p:nvPr/>
        </p:nvSpPr>
        <p:spPr>
          <a:xfrm>
            <a:off x="640080" y="4846320"/>
            <a:ext cx="548640" cy="5486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03</a:t>
            </a:r>
          </a:p>
        </p:txBody>
      </p:sp>
      <p:sp>
        <p:nvSpPr>
          <p:cNvPr id="10" name="TextBox 9"/>
          <p:cNvSpPr txBox="1"/>
          <p:nvPr/>
        </p:nvSpPr>
        <p:spPr>
          <a:xfrm>
            <a:off x="1371600" y="4846320"/>
            <a:ext cx="7315200" cy="320040"/>
          </a:xfrm>
          <a:prstGeom prst="rect">
            <a:avLst/>
          </a:prstGeom>
          <a:noFill/>
        </p:spPr>
        <p:txBody>
          <a:bodyPr wrap="none">
            <a:spAutoFit/>
          </a:bodyPr>
          <a:lstStyle/>
          <a:p>
            <a:pPr>
              <a:defRPr sz="2000" b="1">
                <a:solidFill>
                  <a:srgbClr val="1E3A8A"/>
                </a:solidFill>
              </a:defRPr>
            </a:pPr>
            <a:r>
              <a:t>Retrieval-Augmented Generation (RAG)</a:t>
            </a:r>
          </a:p>
        </p:txBody>
      </p:sp>
      <p:sp>
        <p:nvSpPr>
          <p:cNvPr id="11" name="TextBox 10"/>
          <p:cNvSpPr txBox="1"/>
          <p:nvPr/>
        </p:nvSpPr>
        <p:spPr>
          <a:xfrm>
            <a:off x="1371600" y="5212080"/>
            <a:ext cx="7315200" cy="914400"/>
          </a:xfrm>
          <a:prstGeom prst="rect">
            <a:avLst/>
          </a:prstGeom>
          <a:noFill/>
        </p:spPr>
        <p:txBody>
          <a:bodyPr wrap="square">
            <a:spAutoFit/>
          </a:bodyPr>
          <a:lstStyle/>
          <a:p>
            <a:pPr>
              <a:lnSpc>
                <a:spcPct val="120000"/>
              </a:lnSpc>
              <a:defRPr sz="1400">
                <a:solidFill>
                  <a:srgbClr val="1F2937"/>
                </a:solidFill>
              </a:defRPr>
            </a:pPr>
            <a:r>
              <a:t>To enhance query responses, we implement RAG. Academic documents are indexed using embedding-based retrieval techniques, allowing efficient fetching of relevant content. This grounding in official data significantly reduces AI hallucinations.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782791" cy="1323439"/>
          </a:xfrm>
          <a:prstGeom prst="rect">
            <a:avLst/>
          </a:prstGeom>
          <a:noFill/>
        </p:spPr>
        <p:txBody>
          <a:bodyPr wrap="square">
            <a:spAutoFit/>
          </a:bodyPr>
          <a:lstStyle/>
          <a:p>
            <a:pPr>
              <a:defRPr sz="4000" b="1">
                <a:solidFill>
                  <a:srgbClr val="1E3A8A"/>
                </a:solidFill>
              </a:defRPr>
            </a:pPr>
            <a:r>
              <a:rPr sz="4000" dirty="0"/>
              <a:t>Methodology – Implementation &amp; Deployment</a:t>
            </a:r>
          </a:p>
        </p:txBody>
      </p:sp>
      <p:sp>
        <p:nvSpPr>
          <p:cNvPr id="3" name="Rounded Rectangle 2"/>
          <p:cNvSpPr/>
          <p:nvPr/>
        </p:nvSpPr>
        <p:spPr>
          <a:xfrm>
            <a:off x="457200" y="1828800"/>
            <a:ext cx="2560320" cy="438912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2011680"/>
            <a:ext cx="2194560" cy="457200"/>
          </a:xfrm>
          <a:prstGeom prst="rect">
            <a:avLst/>
          </a:prstGeom>
          <a:noFill/>
        </p:spPr>
        <p:txBody>
          <a:bodyPr wrap="none">
            <a:spAutoFit/>
          </a:bodyPr>
          <a:lstStyle/>
          <a:p>
            <a:pPr algn="ctr">
              <a:defRPr sz="3200" b="1">
                <a:solidFill>
                  <a:srgbClr val="F59E0B"/>
                </a:solidFill>
              </a:defRPr>
            </a:pPr>
            <a:r>
              <a:t>01</a:t>
            </a:r>
          </a:p>
        </p:txBody>
      </p:sp>
      <p:sp>
        <p:nvSpPr>
          <p:cNvPr id="5" name="TextBox 4"/>
          <p:cNvSpPr txBox="1"/>
          <p:nvPr/>
        </p:nvSpPr>
        <p:spPr>
          <a:xfrm>
            <a:off x="640080" y="2560320"/>
            <a:ext cx="2194560" cy="731520"/>
          </a:xfrm>
          <a:prstGeom prst="rect">
            <a:avLst/>
          </a:prstGeom>
          <a:noFill/>
        </p:spPr>
        <p:txBody>
          <a:bodyPr wrap="square">
            <a:spAutoFit/>
          </a:bodyPr>
          <a:lstStyle/>
          <a:p>
            <a:pPr algn="ctr">
              <a:defRPr sz="1700" b="1">
                <a:solidFill>
                  <a:srgbClr val="1E3A8A"/>
                </a:solidFill>
              </a:defRPr>
            </a:pPr>
            <a:r>
              <a:t>Hybrid Reasoning Pipeline</a:t>
            </a:r>
          </a:p>
        </p:txBody>
      </p:sp>
      <p:sp>
        <p:nvSpPr>
          <p:cNvPr id="6" name="TextBox 5"/>
          <p:cNvSpPr txBox="1"/>
          <p:nvPr/>
        </p:nvSpPr>
        <p:spPr>
          <a:xfrm>
            <a:off x="640080" y="3383280"/>
            <a:ext cx="2194560" cy="2651760"/>
          </a:xfrm>
          <a:prstGeom prst="rect">
            <a:avLst/>
          </a:prstGeom>
          <a:noFill/>
        </p:spPr>
        <p:txBody>
          <a:bodyPr wrap="square">
            <a:spAutoFit/>
          </a:bodyPr>
          <a:lstStyle/>
          <a:p>
            <a:pPr>
              <a:lnSpc>
                <a:spcPct val="120000"/>
              </a:lnSpc>
              <a:defRPr sz="1300">
                <a:solidFill>
                  <a:srgbClr val="1F2937"/>
                </a:solidFill>
              </a:defRPr>
            </a:pPr>
            <a:r>
              <a:t>A sophisticated hybrid reasoning pipeline combines the strengths of RAG results with the logical inference capabilities of the Knowledge Graph. This synergistic approach allows the system to deliver highly context-aware and personalized recommendations.</a:t>
            </a:r>
          </a:p>
        </p:txBody>
      </p:sp>
      <p:sp>
        <p:nvSpPr>
          <p:cNvPr id="7" name="Rounded Rectangle 6"/>
          <p:cNvSpPr/>
          <p:nvPr/>
        </p:nvSpPr>
        <p:spPr>
          <a:xfrm>
            <a:off x="3200400" y="1828800"/>
            <a:ext cx="2560320" cy="438912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2011680"/>
            <a:ext cx="2194560" cy="457200"/>
          </a:xfrm>
          <a:prstGeom prst="rect">
            <a:avLst/>
          </a:prstGeom>
          <a:noFill/>
        </p:spPr>
        <p:txBody>
          <a:bodyPr wrap="none">
            <a:spAutoFit/>
          </a:bodyPr>
          <a:lstStyle/>
          <a:p>
            <a:pPr algn="ctr">
              <a:defRPr sz="3200" b="1">
                <a:solidFill>
                  <a:srgbClr val="F59E0B"/>
                </a:solidFill>
              </a:defRPr>
            </a:pPr>
            <a:r>
              <a:t>02</a:t>
            </a:r>
          </a:p>
        </p:txBody>
      </p:sp>
      <p:sp>
        <p:nvSpPr>
          <p:cNvPr id="9" name="TextBox 8"/>
          <p:cNvSpPr txBox="1"/>
          <p:nvPr/>
        </p:nvSpPr>
        <p:spPr>
          <a:xfrm>
            <a:off x="3383280" y="2560320"/>
            <a:ext cx="2194560" cy="731520"/>
          </a:xfrm>
          <a:prstGeom prst="rect">
            <a:avLst/>
          </a:prstGeom>
          <a:noFill/>
        </p:spPr>
        <p:txBody>
          <a:bodyPr wrap="square">
            <a:spAutoFit/>
          </a:bodyPr>
          <a:lstStyle/>
          <a:p>
            <a:pPr algn="ctr">
              <a:defRPr sz="1700" b="1">
                <a:solidFill>
                  <a:srgbClr val="1E3A8A"/>
                </a:solidFill>
              </a:defRPr>
            </a:pPr>
            <a:r>
              <a:t>System Deployment &amp; Accessibility</a:t>
            </a:r>
          </a:p>
        </p:txBody>
      </p:sp>
      <p:sp>
        <p:nvSpPr>
          <p:cNvPr id="10" name="TextBox 9"/>
          <p:cNvSpPr txBox="1"/>
          <p:nvPr/>
        </p:nvSpPr>
        <p:spPr>
          <a:xfrm>
            <a:off x="3383280" y="3383280"/>
            <a:ext cx="2194560" cy="2651760"/>
          </a:xfrm>
          <a:prstGeom prst="rect">
            <a:avLst/>
          </a:prstGeom>
          <a:noFill/>
        </p:spPr>
        <p:txBody>
          <a:bodyPr wrap="square">
            <a:spAutoFit/>
          </a:bodyPr>
          <a:lstStyle/>
          <a:p>
            <a:pPr>
              <a:lnSpc>
                <a:spcPct val="120000"/>
              </a:lnSpc>
              <a:defRPr sz="1300">
                <a:solidFill>
                  <a:srgbClr val="1F2937"/>
                </a:solidFill>
              </a:defRPr>
            </a:pPr>
            <a:r>
              <a:t>The system is deployed as a Flutter-based mobile chatbot application, providing an intuitive interface for students. All backend AI services operate seamlessly to ensure continuous functionality and 24/7 availability.</a:t>
            </a:r>
          </a:p>
        </p:txBody>
      </p:sp>
      <p:sp>
        <p:nvSpPr>
          <p:cNvPr id="11" name="Rounded Rectangle 10"/>
          <p:cNvSpPr/>
          <p:nvPr/>
        </p:nvSpPr>
        <p:spPr>
          <a:xfrm>
            <a:off x="5943600" y="1828800"/>
            <a:ext cx="2560320" cy="438912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80" y="2011680"/>
            <a:ext cx="2194560" cy="457200"/>
          </a:xfrm>
          <a:prstGeom prst="rect">
            <a:avLst/>
          </a:prstGeom>
          <a:noFill/>
        </p:spPr>
        <p:txBody>
          <a:bodyPr wrap="none">
            <a:spAutoFit/>
          </a:bodyPr>
          <a:lstStyle/>
          <a:p>
            <a:pPr algn="ctr">
              <a:defRPr sz="3200" b="1">
                <a:solidFill>
                  <a:srgbClr val="F59E0B"/>
                </a:solidFill>
              </a:defRPr>
            </a:pPr>
            <a:r>
              <a:t>03</a:t>
            </a:r>
          </a:p>
        </p:txBody>
      </p:sp>
      <p:sp>
        <p:nvSpPr>
          <p:cNvPr id="13" name="TextBox 12"/>
          <p:cNvSpPr txBox="1"/>
          <p:nvPr/>
        </p:nvSpPr>
        <p:spPr>
          <a:xfrm>
            <a:off x="6126480" y="2560320"/>
            <a:ext cx="2194560" cy="731520"/>
          </a:xfrm>
          <a:prstGeom prst="rect">
            <a:avLst/>
          </a:prstGeom>
          <a:noFill/>
        </p:spPr>
        <p:txBody>
          <a:bodyPr wrap="square">
            <a:spAutoFit/>
          </a:bodyPr>
          <a:lstStyle/>
          <a:p>
            <a:pPr algn="ctr">
              <a:defRPr sz="1700" b="1">
                <a:solidFill>
                  <a:srgbClr val="1E3A8A"/>
                </a:solidFill>
              </a:defRPr>
            </a:pPr>
            <a:r>
              <a:t>Integration &amp; Testing</a:t>
            </a:r>
          </a:p>
        </p:txBody>
      </p:sp>
      <p:sp>
        <p:nvSpPr>
          <p:cNvPr id="14" name="TextBox 13"/>
          <p:cNvSpPr txBox="1"/>
          <p:nvPr/>
        </p:nvSpPr>
        <p:spPr>
          <a:xfrm>
            <a:off x="6126480" y="3383280"/>
            <a:ext cx="2194560" cy="2651760"/>
          </a:xfrm>
          <a:prstGeom prst="rect">
            <a:avLst/>
          </a:prstGeom>
          <a:noFill/>
        </p:spPr>
        <p:txBody>
          <a:bodyPr wrap="square">
            <a:spAutoFit/>
          </a:bodyPr>
          <a:lstStyle/>
          <a:p>
            <a:pPr>
              <a:lnSpc>
                <a:spcPct val="120000"/>
              </a:lnSpc>
              <a:defRPr sz="1300">
                <a:solidFill>
                  <a:srgbClr val="1F2937"/>
                </a:solidFill>
              </a:defRPr>
            </a:pPr>
            <a:r>
              <a:t>Comprehensive testing ensures all components work seamlessly together. The system undergoes rigorous validation to confirm accuracy, reliability, and user experience quality before full deployment.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1E3A8A"/>
                </a:solidFill>
              </a:defRPr>
            </a:pPr>
            <a:r>
              <a:t>Analysis and Design</a:t>
            </a:r>
          </a:p>
        </p:txBody>
      </p:sp>
      <p:sp>
        <p:nvSpPr>
          <p:cNvPr id="3" name="TextBox 2"/>
          <p:cNvSpPr txBox="1"/>
          <p:nvPr/>
        </p:nvSpPr>
        <p:spPr>
          <a:xfrm>
            <a:off x="2286000" y="2011680"/>
            <a:ext cx="4572000" cy="4114800"/>
          </a:xfrm>
          <a:prstGeom prst="rect">
            <a:avLst/>
          </a:prstGeom>
          <a:noFill/>
        </p:spPr>
        <p:txBody>
          <a:bodyPr wrap="none">
            <a:spAutoFit/>
          </a:bodyPr>
          <a:lstStyle/>
          <a:p>
            <a:pPr>
              <a:spcBef>
                <a:spcPts val="0"/>
              </a:spcBef>
              <a:defRPr sz="2400">
                <a:solidFill>
                  <a:srgbClr val="1F2937"/>
                </a:solidFill>
              </a:defRPr>
            </a:pPr>
            <a:r>
              <a:t>1. Use Case Diagram</a:t>
            </a:r>
          </a:p>
          <a:p>
            <a:pPr>
              <a:spcBef>
                <a:spcPts val="1200"/>
              </a:spcBef>
              <a:defRPr sz="2400">
                <a:solidFill>
                  <a:srgbClr val="1F2937"/>
                </a:solidFill>
              </a:defRPr>
            </a:pPr>
            <a:r>
              <a:t>2. Activity Diagram</a:t>
            </a:r>
          </a:p>
          <a:p>
            <a:pPr>
              <a:spcBef>
                <a:spcPts val="1200"/>
              </a:spcBef>
              <a:defRPr sz="2400">
                <a:solidFill>
                  <a:srgbClr val="1F2937"/>
                </a:solidFill>
              </a:defRPr>
            </a:pPr>
            <a:r>
              <a:t>3. Data Flow Diagram</a:t>
            </a:r>
          </a:p>
          <a:p>
            <a:pPr lvl="1">
              <a:spcBef>
                <a:spcPts val="1200"/>
              </a:spcBef>
              <a:defRPr sz="2000">
                <a:solidFill>
                  <a:srgbClr val="6B7280"/>
                </a:solidFill>
              </a:defRPr>
            </a:pPr>
            <a:r>
              <a:t>    3.1 Context diagram</a:t>
            </a:r>
          </a:p>
          <a:p>
            <a:pPr lvl="1">
              <a:spcBef>
                <a:spcPts val="1200"/>
              </a:spcBef>
              <a:defRPr sz="2000">
                <a:solidFill>
                  <a:srgbClr val="6B7280"/>
                </a:solidFill>
              </a:defRPr>
            </a:pPr>
            <a:r>
              <a:t>    3.2 Level 0 diagram</a:t>
            </a:r>
          </a:p>
          <a:p>
            <a:pPr lvl="1">
              <a:spcBef>
                <a:spcPts val="1200"/>
              </a:spcBef>
              <a:defRPr sz="2000">
                <a:solidFill>
                  <a:srgbClr val="6B7280"/>
                </a:solidFill>
              </a:defRPr>
            </a:pPr>
            <a:r>
              <a:t>    3.3 Level 1 diagram</a:t>
            </a:r>
          </a:p>
          <a:p>
            <a:pPr>
              <a:spcBef>
                <a:spcPts val="1200"/>
              </a:spcBef>
              <a:defRPr sz="2400">
                <a:solidFill>
                  <a:srgbClr val="1F2937"/>
                </a:solidFill>
              </a:defRPr>
            </a:pPr>
            <a:r>
              <a:t>4. Entity Relationship Diagram</a:t>
            </a:r>
          </a:p>
          <a:p>
            <a:pPr>
              <a:spcBef>
                <a:spcPts val="1200"/>
              </a:spcBef>
              <a:defRPr sz="2400">
                <a:solidFill>
                  <a:srgbClr val="1F2937"/>
                </a:solidFill>
              </a:defRPr>
            </a:pPr>
            <a:r>
              <a:t>5. Class diagram</a:t>
            </a:r>
          </a:p>
          <a:p>
            <a:pPr>
              <a:spcBef>
                <a:spcPts val="1200"/>
              </a:spcBef>
              <a:defRPr sz="2400">
                <a:solidFill>
                  <a:srgbClr val="1F2937"/>
                </a:solidFill>
              </a:defRPr>
            </a:pPr>
            <a:r>
              <a:t>6. Sequence diagram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1E3A8A"/>
                </a:solidFill>
              </a:defRPr>
            </a:pPr>
            <a:r>
              <a:t>Use Case Diagram</a:t>
            </a:r>
          </a:p>
        </p:txBody>
      </p:sp>
      <p:pic>
        <p:nvPicPr>
          <p:cNvPr id="3" name="Picture 2" descr="usecaseV2.png"/>
          <p:cNvPicPr>
            <a:picLocks noChangeAspect="1"/>
          </p:cNvPicPr>
          <p:nvPr/>
        </p:nvPicPr>
        <p:blipFill>
          <a:blip r:embed="rId2"/>
          <a:stretch>
            <a:fillRect/>
          </a:stretch>
        </p:blipFill>
        <p:spPr>
          <a:xfrm>
            <a:off x="1955535" y="1261886"/>
            <a:ext cx="5047938" cy="536983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1E3A8A"/>
                </a:solidFill>
              </a:defRPr>
            </a:pPr>
            <a:r>
              <a:t>Activity Diagram</a:t>
            </a:r>
          </a:p>
        </p:txBody>
      </p:sp>
      <p:pic>
        <p:nvPicPr>
          <p:cNvPr id="3" name="Picture 2" descr="activity digrame.png"/>
          <p:cNvPicPr>
            <a:picLocks noChangeAspect="1"/>
          </p:cNvPicPr>
          <p:nvPr/>
        </p:nvPicPr>
        <p:blipFill>
          <a:blip r:embed="rId2"/>
          <a:stretch>
            <a:fillRect/>
          </a:stretch>
        </p:blipFill>
        <p:spPr>
          <a:xfrm>
            <a:off x="1816672" y="1371600"/>
            <a:ext cx="5510655" cy="47548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1E3A8A"/>
                </a:solidFill>
              </a:defRPr>
            </a:pPr>
            <a:r>
              <a:t>Data Flow Context Diagram Level 0</a:t>
            </a:r>
          </a:p>
        </p:txBody>
      </p:sp>
      <p:pic>
        <p:nvPicPr>
          <p:cNvPr id="3" name="Picture 2" descr="dfdL0.png"/>
          <p:cNvPicPr>
            <a:picLocks noChangeAspect="1"/>
          </p:cNvPicPr>
          <p:nvPr/>
        </p:nvPicPr>
        <p:blipFill>
          <a:blip r:embed="rId2"/>
          <a:stretch>
            <a:fillRect/>
          </a:stretch>
        </p:blipFill>
        <p:spPr>
          <a:xfrm>
            <a:off x="786421" y="1371600"/>
            <a:ext cx="7571157" cy="47548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1E3A8A"/>
                </a:solidFill>
              </a:defRPr>
            </a:pPr>
            <a:r>
              <a:t>Data Flow Context Diagram Level 1</a:t>
            </a:r>
          </a:p>
        </p:txBody>
      </p:sp>
      <p:pic>
        <p:nvPicPr>
          <p:cNvPr id="3" name="Picture 2" descr="dfdL1.png"/>
          <p:cNvPicPr>
            <a:picLocks noChangeAspect="1"/>
          </p:cNvPicPr>
          <p:nvPr/>
        </p:nvPicPr>
        <p:blipFill>
          <a:blip r:embed="rId2"/>
          <a:stretch>
            <a:fillRect/>
          </a:stretch>
        </p:blipFill>
        <p:spPr>
          <a:xfrm>
            <a:off x="2748130" y="1371600"/>
            <a:ext cx="3647738" cy="47548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1E3A8A"/>
                </a:solidFill>
              </a:defRPr>
            </a:pPr>
            <a:r>
              <a:t>Entity Relationship Diagram</a:t>
            </a:r>
          </a:p>
        </p:txBody>
      </p:sp>
      <p:pic>
        <p:nvPicPr>
          <p:cNvPr id="3" name="Picture 2" descr="Entity Relationship Diagram.png"/>
          <p:cNvPicPr>
            <a:picLocks noChangeAspect="1"/>
          </p:cNvPicPr>
          <p:nvPr/>
        </p:nvPicPr>
        <p:blipFill>
          <a:blip r:embed="rId2"/>
          <a:stretch>
            <a:fillRect/>
          </a:stretch>
        </p:blipFill>
        <p:spPr>
          <a:xfrm>
            <a:off x="1469525" y="1371600"/>
            <a:ext cx="6204949" cy="47548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1E3A8A"/>
                </a:solidFill>
              </a:defRPr>
            </a:pPr>
            <a:r>
              <a:t>Class Diagram</a:t>
            </a:r>
          </a:p>
        </p:txBody>
      </p:sp>
      <p:pic>
        <p:nvPicPr>
          <p:cNvPr id="3" name="Picture 2" descr="class digrame.png"/>
          <p:cNvPicPr>
            <a:picLocks noChangeAspect="1"/>
          </p:cNvPicPr>
          <p:nvPr/>
        </p:nvPicPr>
        <p:blipFill>
          <a:blip r:embed="rId2"/>
          <a:stretch>
            <a:fillRect/>
          </a:stretch>
        </p:blipFill>
        <p:spPr>
          <a:xfrm>
            <a:off x="1900475" y="1371600"/>
            <a:ext cx="5343048" cy="47548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1E3A8A"/>
                </a:solidFill>
              </a:defRPr>
            </a:pPr>
            <a:r>
              <a:t>Sequence Diagram</a:t>
            </a:r>
          </a:p>
        </p:txBody>
      </p:sp>
      <p:pic>
        <p:nvPicPr>
          <p:cNvPr id="3" name="Picture 2" descr="Sequintial digrame.png"/>
          <p:cNvPicPr>
            <a:picLocks noChangeAspect="1"/>
          </p:cNvPicPr>
          <p:nvPr/>
        </p:nvPicPr>
        <p:blipFill>
          <a:blip r:embed="rId2"/>
          <a:stretch>
            <a:fillRect/>
          </a:stretch>
        </p:blipFill>
        <p:spPr>
          <a:xfrm>
            <a:off x="894760" y="1371600"/>
            <a:ext cx="7354479" cy="47548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1C827186-554B-12E9-04DE-CA0CE3960DD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516798F-2F26-211D-E6A1-A45D6C0A5268}"/>
              </a:ext>
            </a:extLst>
          </p:cNvPr>
          <p:cNvSpPr txBox="1"/>
          <p:nvPr/>
        </p:nvSpPr>
        <p:spPr>
          <a:xfrm>
            <a:off x="457200" y="365760"/>
            <a:ext cx="5519075" cy="707886"/>
          </a:xfrm>
          <a:prstGeom prst="rect">
            <a:avLst/>
          </a:prstGeom>
          <a:noFill/>
        </p:spPr>
        <p:txBody>
          <a:bodyPr wrap="none">
            <a:spAutoFit/>
          </a:bodyPr>
          <a:lstStyle/>
          <a:p>
            <a:pPr>
              <a:defRPr sz="4000" b="1">
                <a:solidFill>
                  <a:srgbClr val="1E3A8A"/>
                </a:solidFill>
              </a:defRPr>
            </a:pPr>
            <a:r>
              <a:rPr lang="en-US" dirty="0"/>
              <a:t>Functional Requirements</a:t>
            </a:r>
          </a:p>
        </p:txBody>
      </p:sp>
      <p:sp>
        <p:nvSpPr>
          <p:cNvPr id="3" name="Rounded Rectangle 2">
            <a:extLst>
              <a:ext uri="{FF2B5EF4-FFF2-40B4-BE49-F238E27FC236}">
                <a16:creationId xmlns:a16="http://schemas.microsoft.com/office/drawing/2014/main" id="{7096F7EA-39BA-72DD-EAD2-AED9111E1463}"/>
              </a:ext>
            </a:extLst>
          </p:cNvPr>
          <p:cNvSpPr/>
          <p:nvPr/>
        </p:nvSpPr>
        <p:spPr>
          <a:xfrm>
            <a:off x="548640" y="1828800"/>
            <a:ext cx="4023360" cy="137160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864EAA5-7314-360D-4B55-964114BF5890}"/>
              </a:ext>
            </a:extLst>
          </p:cNvPr>
          <p:cNvSpPr txBox="1"/>
          <p:nvPr/>
        </p:nvSpPr>
        <p:spPr>
          <a:xfrm>
            <a:off x="726923" y="1976837"/>
            <a:ext cx="2746265" cy="338554"/>
          </a:xfrm>
          <a:prstGeom prst="rect">
            <a:avLst/>
          </a:prstGeom>
          <a:noFill/>
        </p:spPr>
        <p:txBody>
          <a:bodyPr wrap="none">
            <a:spAutoFit/>
          </a:bodyPr>
          <a:lstStyle/>
          <a:p>
            <a:pPr>
              <a:spcBef>
                <a:spcPts val="0"/>
              </a:spcBef>
              <a:defRPr sz="1600" b="1">
                <a:solidFill>
                  <a:srgbClr val="1E3A8A"/>
                </a:solidFill>
              </a:defRPr>
            </a:pPr>
            <a:r>
              <a:rPr lang="en-US" dirty="0"/>
              <a:t>• Intelligent Chatbot Interface</a:t>
            </a:r>
          </a:p>
        </p:txBody>
      </p:sp>
      <p:sp>
        <p:nvSpPr>
          <p:cNvPr id="5" name="TextBox 4">
            <a:extLst>
              <a:ext uri="{FF2B5EF4-FFF2-40B4-BE49-F238E27FC236}">
                <a16:creationId xmlns:a16="http://schemas.microsoft.com/office/drawing/2014/main" id="{9D69669E-A38B-D850-13B7-02B60FAAC78C}"/>
              </a:ext>
            </a:extLst>
          </p:cNvPr>
          <p:cNvSpPr txBox="1"/>
          <p:nvPr/>
        </p:nvSpPr>
        <p:spPr>
          <a:xfrm>
            <a:off x="452450" y="2308860"/>
            <a:ext cx="3657600" cy="731520"/>
          </a:xfrm>
          <a:prstGeom prst="rect">
            <a:avLst/>
          </a:prstGeom>
          <a:noFill/>
        </p:spPr>
        <p:txBody>
          <a:bodyPr wrap="square">
            <a:spAutoFit/>
          </a:bodyPr>
          <a:lstStyle/>
          <a:p>
            <a:pPr lvl="1">
              <a:spcBef>
                <a:spcPts val="200"/>
              </a:spcBef>
              <a:defRPr sz="1400">
                <a:solidFill>
                  <a:srgbClr val="1F2937"/>
                </a:solidFill>
              </a:defRPr>
            </a:pPr>
            <a:r>
              <a:rPr lang="en-US" dirty="0"/>
              <a:t>Cross-platform mobile chatbot supporting natural language academic queries.</a:t>
            </a:r>
          </a:p>
        </p:txBody>
      </p:sp>
      <p:sp>
        <p:nvSpPr>
          <p:cNvPr id="6" name="Rounded Rectangle 5">
            <a:extLst>
              <a:ext uri="{FF2B5EF4-FFF2-40B4-BE49-F238E27FC236}">
                <a16:creationId xmlns:a16="http://schemas.microsoft.com/office/drawing/2014/main" id="{8389A55A-016A-75F3-91D3-5E608DBDD78A}"/>
              </a:ext>
            </a:extLst>
          </p:cNvPr>
          <p:cNvSpPr/>
          <p:nvPr/>
        </p:nvSpPr>
        <p:spPr>
          <a:xfrm>
            <a:off x="4754880" y="1828800"/>
            <a:ext cx="4023360" cy="137160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1F8A8F52-C3EA-9AE1-31AF-72B29B9F0AD2}"/>
              </a:ext>
            </a:extLst>
          </p:cNvPr>
          <p:cNvSpPr txBox="1"/>
          <p:nvPr/>
        </p:nvSpPr>
        <p:spPr>
          <a:xfrm>
            <a:off x="4937760" y="1965960"/>
            <a:ext cx="2794163" cy="646331"/>
          </a:xfrm>
          <a:prstGeom prst="rect">
            <a:avLst/>
          </a:prstGeom>
          <a:noFill/>
        </p:spPr>
        <p:txBody>
          <a:bodyPr wrap="none">
            <a:spAutoFit/>
          </a:bodyPr>
          <a:lstStyle/>
          <a:p>
            <a:pPr>
              <a:defRPr sz="1800" b="1">
                <a:solidFill>
                  <a:srgbClr val="1E3A8A"/>
                </a:solidFill>
              </a:defRPr>
            </a:pPr>
            <a:r>
              <a:rPr lang="en-US" dirty="0"/>
              <a:t>• Academic Policy Retrieval</a:t>
            </a:r>
          </a:p>
          <a:p>
            <a:pPr>
              <a:defRPr sz="1800" b="1">
                <a:solidFill>
                  <a:srgbClr val="1E3A8A"/>
                </a:solidFill>
              </a:defRPr>
            </a:pPr>
            <a:endParaRPr dirty="0"/>
          </a:p>
        </p:txBody>
      </p:sp>
      <p:sp>
        <p:nvSpPr>
          <p:cNvPr id="8" name="TextBox 7">
            <a:extLst>
              <a:ext uri="{FF2B5EF4-FFF2-40B4-BE49-F238E27FC236}">
                <a16:creationId xmlns:a16="http://schemas.microsoft.com/office/drawing/2014/main" id="{50BFC9B9-348B-7960-4825-42A2CFB82169}"/>
              </a:ext>
            </a:extLst>
          </p:cNvPr>
          <p:cNvSpPr txBox="1"/>
          <p:nvPr/>
        </p:nvSpPr>
        <p:spPr>
          <a:xfrm>
            <a:off x="4668190" y="2352165"/>
            <a:ext cx="3657600" cy="523220"/>
          </a:xfrm>
          <a:prstGeom prst="rect">
            <a:avLst/>
          </a:prstGeom>
          <a:noFill/>
        </p:spPr>
        <p:txBody>
          <a:bodyPr wrap="square">
            <a:spAutoFit/>
          </a:bodyPr>
          <a:lstStyle/>
          <a:p>
            <a:pPr lvl="1">
              <a:spcBef>
                <a:spcPts val="200"/>
              </a:spcBef>
              <a:defRPr sz="1400">
                <a:solidFill>
                  <a:srgbClr val="1F2937"/>
                </a:solidFill>
              </a:defRPr>
            </a:pPr>
            <a:r>
              <a:rPr lang="en-US" dirty="0"/>
              <a:t>Retrieves and explains graduation requirements and academic rules.</a:t>
            </a:r>
          </a:p>
        </p:txBody>
      </p:sp>
      <p:sp>
        <p:nvSpPr>
          <p:cNvPr id="9" name="Rounded Rectangle 8">
            <a:extLst>
              <a:ext uri="{FF2B5EF4-FFF2-40B4-BE49-F238E27FC236}">
                <a16:creationId xmlns:a16="http://schemas.microsoft.com/office/drawing/2014/main" id="{5C16C69A-3AF5-5293-B061-EE8D9E9FDFD6}"/>
              </a:ext>
            </a:extLst>
          </p:cNvPr>
          <p:cNvSpPr/>
          <p:nvPr/>
        </p:nvSpPr>
        <p:spPr>
          <a:xfrm>
            <a:off x="548640" y="3474720"/>
            <a:ext cx="4023360" cy="137160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DB49D2D8-D999-A875-CA6F-D957EF9D30CE}"/>
              </a:ext>
            </a:extLst>
          </p:cNvPr>
          <p:cNvSpPr txBox="1"/>
          <p:nvPr/>
        </p:nvSpPr>
        <p:spPr>
          <a:xfrm>
            <a:off x="676254" y="3601784"/>
            <a:ext cx="3895746" cy="646331"/>
          </a:xfrm>
          <a:prstGeom prst="rect">
            <a:avLst/>
          </a:prstGeom>
          <a:noFill/>
        </p:spPr>
        <p:txBody>
          <a:bodyPr wrap="none">
            <a:spAutoFit/>
          </a:bodyPr>
          <a:lstStyle/>
          <a:p>
            <a:pPr>
              <a:defRPr sz="1800" b="1">
                <a:solidFill>
                  <a:srgbClr val="1E3A8A"/>
                </a:solidFill>
              </a:defRPr>
            </a:pPr>
            <a:r>
              <a:rPr lang="en-US" dirty="0"/>
              <a:t>• Course Recommendation &amp; Selection</a:t>
            </a:r>
          </a:p>
          <a:p>
            <a:pPr>
              <a:defRPr sz="1800" b="1">
                <a:solidFill>
                  <a:srgbClr val="1E3A8A"/>
                </a:solidFill>
              </a:defRPr>
            </a:pPr>
            <a:endParaRPr dirty="0"/>
          </a:p>
        </p:txBody>
      </p:sp>
      <p:sp>
        <p:nvSpPr>
          <p:cNvPr id="11" name="TextBox 10">
            <a:extLst>
              <a:ext uri="{FF2B5EF4-FFF2-40B4-BE49-F238E27FC236}">
                <a16:creationId xmlns:a16="http://schemas.microsoft.com/office/drawing/2014/main" id="{437B295A-33B5-7EF5-9018-52A73E47741B}"/>
              </a:ext>
            </a:extLst>
          </p:cNvPr>
          <p:cNvSpPr txBox="1"/>
          <p:nvPr/>
        </p:nvSpPr>
        <p:spPr>
          <a:xfrm>
            <a:off x="914400" y="3927909"/>
            <a:ext cx="3657600" cy="592150"/>
          </a:xfrm>
          <a:prstGeom prst="rect">
            <a:avLst/>
          </a:prstGeom>
          <a:noFill/>
        </p:spPr>
        <p:txBody>
          <a:bodyPr wrap="square">
            <a:spAutoFit/>
          </a:bodyPr>
          <a:lstStyle/>
          <a:p>
            <a:pPr>
              <a:lnSpc>
                <a:spcPct val="120000"/>
              </a:lnSpc>
              <a:defRPr sz="1400">
                <a:solidFill>
                  <a:srgbClr val="1F2937"/>
                </a:solidFill>
              </a:defRPr>
            </a:pPr>
            <a:r>
              <a:rPr lang="en-US" dirty="0"/>
              <a:t>Analyzes academic history for context-aware course recommendations</a:t>
            </a:r>
            <a:endParaRPr dirty="0"/>
          </a:p>
        </p:txBody>
      </p:sp>
      <p:sp>
        <p:nvSpPr>
          <p:cNvPr id="12" name="Rounded Rectangle 11">
            <a:extLst>
              <a:ext uri="{FF2B5EF4-FFF2-40B4-BE49-F238E27FC236}">
                <a16:creationId xmlns:a16="http://schemas.microsoft.com/office/drawing/2014/main" id="{75C74D08-E81D-A5A8-A68F-3A849F499F45}"/>
              </a:ext>
            </a:extLst>
          </p:cNvPr>
          <p:cNvSpPr/>
          <p:nvPr/>
        </p:nvSpPr>
        <p:spPr>
          <a:xfrm>
            <a:off x="4754880" y="3474720"/>
            <a:ext cx="4023360" cy="137160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D5A1CB4C-1DAD-4E75-7F62-7090AFEFF522}"/>
              </a:ext>
            </a:extLst>
          </p:cNvPr>
          <p:cNvSpPr txBox="1"/>
          <p:nvPr/>
        </p:nvSpPr>
        <p:spPr>
          <a:xfrm>
            <a:off x="4937760" y="3611879"/>
            <a:ext cx="2624436" cy="646331"/>
          </a:xfrm>
          <a:prstGeom prst="rect">
            <a:avLst/>
          </a:prstGeom>
          <a:noFill/>
        </p:spPr>
        <p:txBody>
          <a:bodyPr wrap="none">
            <a:spAutoFit/>
          </a:bodyPr>
          <a:lstStyle/>
          <a:p>
            <a:pPr>
              <a:defRPr sz="1800" b="1">
                <a:solidFill>
                  <a:srgbClr val="1E3A8A"/>
                </a:solidFill>
              </a:defRPr>
            </a:pPr>
            <a:r>
              <a:rPr lang="en-US" dirty="0"/>
              <a:t>• Student Profile Analysis</a:t>
            </a:r>
          </a:p>
          <a:p>
            <a:pPr>
              <a:defRPr sz="1800" b="1">
                <a:solidFill>
                  <a:srgbClr val="1E3A8A"/>
                </a:solidFill>
              </a:defRPr>
            </a:pPr>
            <a:endParaRPr dirty="0"/>
          </a:p>
        </p:txBody>
      </p:sp>
      <p:sp>
        <p:nvSpPr>
          <p:cNvPr id="14" name="TextBox 13">
            <a:extLst>
              <a:ext uri="{FF2B5EF4-FFF2-40B4-BE49-F238E27FC236}">
                <a16:creationId xmlns:a16="http://schemas.microsoft.com/office/drawing/2014/main" id="{2F07443D-5AD5-49BF-A326-FABF133CD4EA}"/>
              </a:ext>
            </a:extLst>
          </p:cNvPr>
          <p:cNvSpPr txBox="1"/>
          <p:nvPr/>
        </p:nvSpPr>
        <p:spPr>
          <a:xfrm>
            <a:off x="4668190" y="3935044"/>
            <a:ext cx="3657600" cy="523220"/>
          </a:xfrm>
          <a:prstGeom prst="rect">
            <a:avLst/>
          </a:prstGeom>
          <a:noFill/>
        </p:spPr>
        <p:txBody>
          <a:bodyPr wrap="square">
            <a:spAutoFit/>
          </a:bodyPr>
          <a:lstStyle/>
          <a:p>
            <a:pPr lvl="1">
              <a:spcBef>
                <a:spcPts val="200"/>
              </a:spcBef>
              <a:defRPr sz="1400">
                <a:solidFill>
                  <a:srgbClr val="1F2937"/>
                </a:solidFill>
              </a:defRPr>
            </a:pPr>
            <a:r>
              <a:rPr lang="en-US" dirty="0"/>
              <a:t>Analyzes individual student records and provides personalized academic planning.</a:t>
            </a:r>
          </a:p>
        </p:txBody>
      </p:sp>
      <p:sp>
        <p:nvSpPr>
          <p:cNvPr id="15" name="Rounded Rectangle 14">
            <a:extLst>
              <a:ext uri="{FF2B5EF4-FFF2-40B4-BE49-F238E27FC236}">
                <a16:creationId xmlns:a16="http://schemas.microsoft.com/office/drawing/2014/main" id="{17490E26-1C33-3B57-F26E-2FE59D0BA346}"/>
              </a:ext>
            </a:extLst>
          </p:cNvPr>
          <p:cNvSpPr/>
          <p:nvPr/>
        </p:nvSpPr>
        <p:spPr>
          <a:xfrm>
            <a:off x="548640" y="5120640"/>
            <a:ext cx="4023360" cy="137160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2542110A-EA00-6979-DDF6-18486A8C3468}"/>
              </a:ext>
            </a:extLst>
          </p:cNvPr>
          <p:cNvSpPr txBox="1"/>
          <p:nvPr/>
        </p:nvSpPr>
        <p:spPr>
          <a:xfrm>
            <a:off x="731520" y="5257800"/>
            <a:ext cx="2349489" cy="646331"/>
          </a:xfrm>
          <a:prstGeom prst="rect">
            <a:avLst/>
          </a:prstGeom>
          <a:noFill/>
        </p:spPr>
        <p:txBody>
          <a:bodyPr wrap="none">
            <a:spAutoFit/>
          </a:bodyPr>
          <a:lstStyle/>
          <a:p>
            <a:pPr>
              <a:defRPr sz="1800" b="1">
                <a:solidFill>
                  <a:srgbClr val="1E3A8A"/>
                </a:solidFill>
              </a:defRPr>
            </a:pPr>
            <a:r>
              <a:rPr lang="en-US" dirty="0"/>
              <a:t>• Prerequisite Tracking</a:t>
            </a:r>
          </a:p>
          <a:p>
            <a:pPr>
              <a:defRPr sz="1800" b="1">
                <a:solidFill>
                  <a:srgbClr val="1E3A8A"/>
                </a:solidFill>
              </a:defRPr>
            </a:pPr>
            <a:endParaRPr dirty="0"/>
          </a:p>
        </p:txBody>
      </p:sp>
      <p:sp>
        <p:nvSpPr>
          <p:cNvPr id="17" name="TextBox 16">
            <a:extLst>
              <a:ext uri="{FF2B5EF4-FFF2-40B4-BE49-F238E27FC236}">
                <a16:creationId xmlns:a16="http://schemas.microsoft.com/office/drawing/2014/main" id="{1952E114-9839-D9BF-3355-4A43EDB0188A}"/>
              </a:ext>
            </a:extLst>
          </p:cNvPr>
          <p:cNvSpPr txBox="1"/>
          <p:nvPr/>
        </p:nvSpPr>
        <p:spPr>
          <a:xfrm>
            <a:off x="452450" y="5623560"/>
            <a:ext cx="3657600" cy="523220"/>
          </a:xfrm>
          <a:prstGeom prst="rect">
            <a:avLst/>
          </a:prstGeom>
          <a:noFill/>
        </p:spPr>
        <p:txBody>
          <a:bodyPr wrap="square">
            <a:spAutoFit/>
          </a:bodyPr>
          <a:lstStyle/>
          <a:p>
            <a:pPr lvl="1">
              <a:spcBef>
                <a:spcPts val="200"/>
              </a:spcBef>
              <a:defRPr sz="1400">
                <a:solidFill>
                  <a:srgbClr val="1F2937"/>
                </a:solidFill>
              </a:defRPr>
            </a:pPr>
            <a:r>
              <a:rPr lang="en-US" dirty="0"/>
              <a:t>Automatically checks prerequisites using a Knowledge Graph.</a:t>
            </a:r>
          </a:p>
        </p:txBody>
      </p:sp>
      <p:sp>
        <p:nvSpPr>
          <p:cNvPr id="18" name="Rounded Rectangle 17">
            <a:extLst>
              <a:ext uri="{FF2B5EF4-FFF2-40B4-BE49-F238E27FC236}">
                <a16:creationId xmlns:a16="http://schemas.microsoft.com/office/drawing/2014/main" id="{B9885DB4-4720-A1D5-6250-04485BCAD3EA}"/>
              </a:ext>
            </a:extLst>
          </p:cNvPr>
          <p:cNvSpPr/>
          <p:nvPr/>
        </p:nvSpPr>
        <p:spPr>
          <a:xfrm>
            <a:off x="4754880" y="5120640"/>
            <a:ext cx="4023360" cy="137160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9B54E4D0-2314-253C-8B1A-BDFF38972CC7}"/>
              </a:ext>
            </a:extLst>
          </p:cNvPr>
          <p:cNvSpPr txBox="1"/>
          <p:nvPr/>
        </p:nvSpPr>
        <p:spPr>
          <a:xfrm>
            <a:off x="4937760" y="5257800"/>
            <a:ext cx="2910540" cy="338554"/>
          </a:xfrm>
          <a:prstGeom prst="rect">
            <a:avLst/>
          </a:prstGeom>
          <a:noFill/>
        </p:spPr>
        <p:txBody>
          <a:bodyPr wrap="none">
            <a:spAutoFit/>
          </a:bodyPr>
          <a:lstStyle/>
          <a:p>
            <a:pPr>
              <a:spcBef>
                <a:spcPts val="1000"/>
              </a:spcBef>
              <a:defRPr sz="1600" b="1">
                <a:solidFill>
                  <a:srgbClr val="1E3A8A"/>
                </a:solidFill>
              </a:defRPr>
            </a:pPr>
            <a:r>
              <a:rPr lang="en-US" dirty="0"/>
              <a:t>• Knowledge Base Management</a:t>
            </a:r>
          </a:p>
        </p:txBody>
      </p:sp>
      <p:sp>
        <p:nvSpPr>
          <p:cNvPr id="20" name="TextBox 19">
            <a:extLst>
              <a:ext uri="{FF2B5EF4-FFF2-40B4-BE49-F238E27FC236}">
                <a16:creationId xmlns:a16="http://schemas.microsoft.com/office/drawing/2014/main" id="{3E9411E6-2A53-7D32-8742-1127A726DE88}"/>
              </a:ext>
            </a:extLst>
          </p:cNvPr>
          <p:cNvSpPr txBox="1"/>
          <p:nvPr/>
        </p:nvSpPr>
        <p:spPr>
          <a:xfrm>
            <a:off x="4668190" y="5623560"/>
            <a:ext cx="3657600" cy="523220"/>
          </a:xfrm>
          <a:prstGeom prst="rect">
            <a:avLst/>
          </a:prstGeom>
          <a:noFill/>
        </p:spPr>
        <p:txBody>
          <a:bodyPr wrap="square">
            <a:spAutoFit/>
          </a:bodyPr>
          <a:lstStyle/>
          <a:p>
            <a:pPr lvl="1">
              <a:spcBef>
                <a:spcPts val="200"/>
              </a:spcBef>
              <a:defRPr sz="1400">
                <a:solidFill>
                  <a:srgbClr val="1F2937"/>
                </a:solidFill>
              </a:defRPr>
            </a:pPr>
            <a:r>
              <a:rPr lang="en-US" dirty="0"/>
              <a:t>Ingests university documents into a structured Knowledge Graph.</a:t>
            </a:r>
          </a:p>
        </p:txBody>
      </p:sp>
    </p:spTree>
    <p:extLst>
      <p:ext uri="{BB962C8B-B14F-4D97-AF65-F5344CB8AC3E}">
        <p14:creationId xmlns:p14="http://schemas.microsoft.com/office/powerpoint/2010/main" val="836971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1E3A8A"/>
                </a:solidFill>
              </a:defRPr>
            </a:pPr>
            <a:r>
              <a:t>Non-Functional Requirements</a:t>
            </a:r>
          </a:p>
        </p:txBody>
      </p:sp>
      <p:sp>
        <p:nvSpPr>
          <p:cNvPr id="3" name="Rounded Rectangle 2"/>
          <p:cNvSpPr/>
          <p:nvPr/>
        </p:nvSpPr>
        <p:spPr>
          <a:xfrm>
            <a:off x="548640" y="1828800"/>
            <a:ext cx="4023360" cy="137160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965960"/>
            <a:ext cx="3657600" cy="365760"/>
          </a:xfrm>
          <a:prstGeom prst="rect">
            <a:avLst/>
          </a:prstGeom>
          <a:noFill/>
        </p:spPr>
        <p:txBody>
          <a:bodyPr wrap="none">
            <a:spAutoFit/>
          </a:bodyPr>
          <a:lstStyle/>
          <a:p>
            <a:pPr>
              <a:defRPr sz="1800" b="1">
                <a:solidFill>
                  <a:srgbClr val="1E3A8A"/>
                </a:solidFill>
              </a:defRPr>
            </a:pPr>
            <a:r>
              <a:t>Security</a:t>
            </a:r>
          </a:p>
        </p:txBody>
      </p:sp>
      <p:sp>
        <p:nvSpPr>
          <p:cNvPr id="5" name="TextBox 4"/>
          <p:cNvSpPr txBox="1"/>
          <p:nvPr/>
        </p:nvSpPr>
        <p:spPr>
          <a:xfrm>
            <a:off x="731520" y="2377440"/>
            <a:ext cx="3657600" cy="731520"/>
          </a:xfrm>
          <a:prstGeom prst="rect">
            <a:avLst/>
          </a:prstGeom>
          <a:noFill/>
        </p:spPr>
        <p:txBody>
          <a:bodyPr wrap="square">
            <a:spAutoFit/>
          </a:bodyPr>
          <a:lstStyle/>
          <a:p>
            <a:pPr>
              <a:lnSpc>
                <a:spcPct val="120000"/>
              </a:lnSpc>
              <a:defRPr sz="1400">
                <a:solidFill>
                  <a:srgbClr val="1F2937"/>
                </a:solidFill>
              </a:defRPr>
            </a:pPr>
            <a:r>
              <a:t>Protects sensitive student academic data and profiles through secure access.</a:t>
            </a:r>
          </a:p>
        </p:txBody>
      </p:sp>
      <p:sp>
        <p:nvSpPr>
          <p:cNvPr id="6" name="Rounded Rectangle 5"/>
          <p:cNvSpPr/>
          <p:nvPr/>
        </p:nvSpPr>
        <p:spPr>
          <a:xfrm>
            <a:off x="4754880" y="1828800"/>
            <a:ext cx="4023360" cy="137160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937760" y="1965960"/>
            <a:ext cx="3657600" cy="365760"/>
          </a:xfrm>
          <a:prstGeom prst="rect">
            <a:avLst/>
          </a:prstGeom>
          <a:noFill/>
        </p:spPr>
        <p:txBody>
          <a:bodyPr wrap="none">
            <a:spAutoFit/>
          </a:bodyPr>
          <a:lstStyle/>
          <a:p>
            <a:pPr>
              <a:defRPr sz="1800" b="1">
                <a:solidFill>
                  <a:srgbClr val="1E3A8A"/>
                </a:solidFill>
              </a:defRPr>
            </a:pPr>
            <a:r>
              <a:t>Usability</a:t>
            </a:r>
          </a:p>
        </p:txBody>
      </p:sp>
      <p:sp>
        <p:nvSpPr>
          <p:cNvPr id="8" name="TextBox 7"/>
          <p:cNvSpPr txBox="1"/>
          <p:nvPr/>
        </p:nvSpPr>
        <p:spPr>
          <a:xfrm>
            <a:off x="4937760" y="2377440"/>
            <a:ext cx="3657600" cy="731520"/>
          </a:xfrm>
          <a:prstGeom prst="rect">
            <a:avLst/>
          </a:prstGeom>
          <a:noFill/>
        </p:spPr>
        <p:txBody>
          <a:bodyPr wrap="square">
            <a:spAutoFit/>
          </a:bodyPr>
          <a:lstStyle/>
          <a:p>
            <a:pPr>
              <a:lnSpc>
                <a:spcPct val="120000"/>
              </a:lnSpc>
              <a:defRPr sz="1400">
                <a:solidFill>
                  <a:srgbClr val="1F2937"/>
                </a:solidFill>
              </a:defRPr>
            </a:pPr>
            <a:r>
              <a:t>Intuitive, accessible mobile chatbot interface requiring no technical expertise.</a:t>
            </a:r>
          </a:p>
        </p:txBody>
      </p:sp>
      <p:sp>
        <p:nvSpPr>
          <p:cNvPr id="9" name="Rounded Rectangle 8"/>
          <p:cNvSpPr/>
          <p:nvPr/>
        </p:nvSpPr>
        <p:spPr>
          <a:xfrm>
            <a:off x="548640" y="3474720"/>
            <a:ext cx="4023360" cy="137160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611879"/>
            <a:ext cx="3657600" cy="365760"/>
          </a:xfrm>
          <a:prstGeom prst="rect">
            <a:avLst/>
          </a:prstGeom>
          <a:noFill/>
        </p:spPr>
        <p:txBody>
          <a:bodyPr wrap="none">
            <a:spAutoFit/>
          </a:bodyPr>
          <a:lstStyle/>
          <a:p>
            <a:pPr>
              <a:defRPr sz="1800" b="1">
                <a:solidFill>
                  <a:srgbClr val="1E3A8A"/>
                </a:solidFill>
              </a:defRPr>
            </a:pPr>
            <a:r>
              <a:t>Performance</a:t>
            </a:r>
          </a:p>
        </p:txBody>
      </p:sp>
      <p:sp>
        <p:nvSpPr>
          <p:cNvPr id="11" name="TextBox 10"/>
          <p:cNvSpPr txBox="1"/>
          <p:nvPr/>
        </p:nvSpPr>
        <p:spPr>
          <a:xfrm>
            <a:off x="731520" y="4023359"/>
            <a:ext cx="3657600" cy="731520"/>
          </a:xfrm>
          <a:prstGeom prst="rect">
            <a:avLst/>
          </a:prstGeom>
          <a:noFill/>
        </p:spPr>
        <p:txBody>
          <a:bodyPr wrap="square">
            <a:spAutoFit/>
          </a:bodyPr>
          <a:lstStyle/>
          <a:p>
            <a:pPr>
              <a:lnSpc>
                <a:spcPct val="120000"/>
              </a:lnSpc>
              <a:defRPr sz="1400">
                <a:solidFill>
                  <a:srgbClr val="1F2937"/>
                </a:solidFill>
              </a:defRPr>
            </a:pPr>
            <a:r>
              <a:t>Delivers real-time responses to queries with minimal latency.</a:t>
            </a:r>
          </a:p>
        </p:txBody>
      </p:sp>
      <p:sp>
        <p:nvSpPr>
          <p:cNvPr id="12" name="Rounded Rectangle 11"/>
          <p:cNvSpPr/>
          <p:nvPr/>
        </p:nvSpPr>
        <p:spPr>
          <a:xfrm>
            <a:off x="4754880" y="3474720"/>
            <a:ext cx="4023360" cy="137160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937760" y="3611879"/>
            <a:ext cx="3657600" cy="365760"/>
          </a:xfrm>
          <a:prstGeom prst="rect">
            <a:avLst/>
          </a:prstGeom>
          <a:noFill/>
        </p:spPr>
        <p:txBody>
          <a:bodyPr wrap="none">
            <a:spAutoFit/>
          </a:bodyPr>
          <a:lstStyle/>
          <a:p>
            <a:pPr>
              <a:defRPr sz="1800" b="1">
                <a:solidFill>
                  <a:srgbClr val="1E3A8A"/>
                </a:solidFill>
              </a:defRPr>
            </a:pPr>
            <a:r>
              <a:t>Scalability</a:t>
            </a:r>
          </a:p>
        </p:txBody>
      </p:sp>
      <p:sp>
        <p:nvSpPr>
          <p:cNvPr id="14" name="TextBox 13"/>
          <p:cNvSpPr txBox="1"/>
          <p:nvPr/>
        </p:nvSpPr>
        <p:spPr>
          <a:xfrm>
            <a:off x="4937760" y="4023359"/>
            <a:ext cx="3657600" cy="731520"/>
          </a:xfrm>
          <a:prstGeom prst="rect">
            <a:avLst/>
          </a:prstGeom>
          <a:noFill/>
        </p:spPr>
        <p:txBody>
          <a:bodyPr wrap="square">
            <a:spAutoFit/>
          </a:bodyPr>
          <a:lstStyle/>
          <a:p>
            <a:pPr>
              <a:lnSpc>
                <a:spcPct val="120000"/>
              </a:lnSpc>
              <a:defRPr sz="1400">
                <a:solidFill>
                  <a:srgbClr val="1F2937"/>
                </a:solidFill>
              </a:defRPr>
            </a:pPr>
            <a:r>
              <a:t>Supports growing student populations and large course catalogs efficiently.</a:t>
            </a:r>
          </a:p>
        </p:txBody>
      </p:sp>
      <p:sp>
        <p:nvSpPr>
          <p:cNvPr id="15" name="Rounded Rectangle 14"/>
          <p:cNvSpPr/>
          <p:nvPr/>
        </p:nvSpPr>
        <p:spPr>
          <a:xfrm>
            <a:off x="548640" y="5120640"/>
            <a:ext cx="4023360" cy="137160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5257800"/>
            <a:ext cx="3657600" cy="365760"/>
          </a:xfrm>
          <a:prstGeom prst="rect">
            <a:avLst/>
          </a:prstGeom>
          <a:noFill/>
        </p:spPr>
        <p:txBody>
          <a:bodyPr wrap="none">
            <a:spAutoFit/>
          </a:bodyPr>
          <a:lstStyle/>
          <a:p>
            <a:pPr>
              <a:defRPr sz="1800" b="1">
                <a:solidFill>
                  <a:srgbClr val="1E3A8A"/>
                </a:solidFill>
              </a:defRPr>
            </a:pPr>
            <a:r>
              <a:t>Reliability</a:t>
            </a:r>
          </a:p>
        </p:txBody>
      </p:sp>
      <p:sp>
        <p:nvSpPr>
          <p:cNvPr id="17" name="TextBox 16"/>
          <p:cNvSpPr txBox="1"/>
          <p:nvPr/>
        </p:nvSpPr>
        <p:spPr>
          <a:xfrm>
            <a:off x="731520" y="5604558"/>
            <a:ext cx="3657600" cy="731520"/>
          </a:xfrm>
          <a:prstGeom prst="rect">
            <a:avLst/>
          </a:prstGeom>
          <a:noFill/>
        </p:spPr>
        <p:txBody>
          <a:bodyPr wrap="square">
            <a:spAutoFit/>
          </a:bodyPr>
          <a:lstStyle/>
          <a:p>
            <a:pPr>
              <a:lnSpc>
                <a:spcPct val="120000"/>
              </a:lnSpc>
              <a:defRPr sz="1400">
                <a:solidFill>
                  <a:srgbClr val="1F2937"/>
                </a:solidFill>
              </a:defRPr>
            </a:pPr>
            <a:r>
              <a:rPr dirty="0"/>
              <a:t>Provides accurate, consistent, and trusted academic recommendations grounded in official data.</a:t>
            </a:r>
          </a:p>
        </p:txBody>
      </p:sp>
      <p:sp>
        <p:nvSpPr>
          <p:cNvPr id="18" name="Rounded Rectangle 17"/>
          <p:cNvSpPr/>
          <p:nvPr/>
        </p:nvSpPr>
        <p:spPr>
          <a:xfrm>
            <a:off x="4754880" y="5120640"/>
            <a:ext cx="4023360" cy="137160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0" y="5257800"/>
            <a:ext cx="3657600" cy="365760"/>
          </a:xfrm>
          <a:prstGeom prst="rect">
            <a:avLst/>
          </a:prstGeom>
          <a:noFill/>
        </p:spPr>
        <p:txBody>
          <a:bodyPr wrap="none">
            <a:spAutoFit/>
          </a:bodyPr>
          <a:lstStyle/>
          <a:p>
            <a:pPr>
              <a:defRPr sz="1800" b="1">
                <a:solidFill>
                  <a:srgbClr val="1E3A8A"/>
                </a:solidFill>
              </a:defRPr>
            </a:pPr>
            <a:r>
              <a:t>Availability</a:t>
            </a:r>
          </a:p>
        </p:txBody>
      </p:sp>
      <p:sp>
        <p:nvSpPr>
          <p:cNvPr id="20" name="TextBox 19"/>
          <p:cNvSpPr txBox="1"/>
          <p:nvPr/>
        </p:nvSpPr>
        <p:spPr>
          <a:xfrm>
            <a:off x="4937760" y="5669279"/>
            <a:ext cx="3657600" cy="731520"/>
          </a:xfrm>
          <a:prstGeom prst="rect">
            <a:avLst/>
          </a:prstGeom>
          <a:noFill/>
        </p:spPr>
        <p:txBody>
          <a:bodyPr wrap="square">
            <a:spAutoFit/>
          </a:bodyPr>
          <a:lstStyle/>
          <a:p>
            <a:pPr>
              <a:lnSpc>
                <a:spcPct val="120000"/>
              </a:lnSpc>
              <a:defRPr sz="1400">
                <a:solidFill>
                  <a:srgbClr val="1F2937"/>
                </a:solidFill>
              </a:defRPr>
            </a:pPr>
            <a:r>
              <a:t>Offers 24/7 academic advising support, eliminating reliance on office hours.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1E3A8A"/>
                </a:solidFill>
              </a:defRPr>
            </a:pPr>
            <a:r>
              <a:t>GUI Representation &amp; Demo</a:t>
            </a:r>
          </a:p>
        </p:txBody>
      </p:sp>
      <p:sp>
        <p:nvSpPr>
          <p:cNvPr id="3" name="TextBox 2"/>
          <p:cNvSpPr txBox="1"/>
          <p:nvPr/>
        </p:nvSpPr>
        <p:spPr>
          <a:xfrm>
            <a:off x="914400" y="2286000"/>
            <a:ext cx="7315200" cy="914400"/>
          </a:xfrm>
          <a:prstGeom prst="rect">
            <a:avLst/>
          </a:prstGeom>
          <a:noFill/>
        </p:spPr>
        <p:txBody>
          <a:bodyPr wrap="none">
            <a:spAutoFit/>
          </a:bodyPr>
          <a:lstStyle/>
          <a:p>
            <a:pPr algn="ctr">
              <a:defRPr sz="2000" i="1">
                <a:solidFill>
                  <a:srgbClr val="6B7280"/>
                </a:solidFill>
              </a:defRPr>
            </a:pPr>
            <a:r>
              <a:t>A visual demonstration of the Smart Academic Advisor System's chatbot interface.</a:t>
            </a:r>
          </a:p>
        </p:txBody>
      </p:sp>
      <p:sp>
        <p:nvSpPr>
          <p:cNvPr id="4" name="Rounded Rectangle 3"/>
          <p:cNvSpPr/>
          <p:nvPr/>
        </p:nvSpPr>
        <p:spPr>
          <a:xfrm>
            <a:off x="1828800" y="3657600"/>
            <a:ext cx="5486400" cy="1371600"/>
          </a:xfrm>
          <a:prstGeom prst="roundRect">
            <a:avLst/>
          </a:prstGeom>
          <a:solidFill>
            <a:srgbClr val="F8FAFC"/>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03120" y="3931920"/>
            <a:ext cx="4937760" cy="822960"/>
          </a:xfrm>
          <a:prstGeom prst="rect">
            <a:avLst/>
          </a:prstGeom>
          <a:noFill/>
        </p:spPr>
        <p:txBody>
          <a:bodyPr wrap="square">
            <a:spAutoFit/>
          </a:bodyPr>
          <a:lstStyle/>
          <a:p>
            <a:pPr algn="ctr">
              <a:defRPr sz="1800">
                <a:solidFill>
                  <a:srgbClr val="1F2937"/>
                </a:solidFill>
              </a:defRPr>
            </a:pPr>
            <a:r>
              <a:t>📱 Live Demo / Screenshots</a:t>
            </a:r>
            <a:br/>
            <a:r>
              <a:t>Insert your mobile app screenshots or demo video here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159336" cy="1200329"/>
          </a:xfrm>
          <a:prstGeom prst="rect">
            <a:avLst/>
          </a:prstGeom>
          <a:noFill/>
        </p:spPr>
        <p:txBody>
          <a:bodyPr wrap="square">
            <a:spAutoFit/>
          </a:bodyPr>
          <a:lstStyle/>
          <a:p>
            <a:pPr>
              <a:defRPr sz="4000" b="1">
                <a:solidFill>
                  <a:srgbClr val="1E3A8A"/>
                </a:solidFill>
              </a:defRPr>
            </a:pPr>
            <a:r>
              <a:rPr sz="3600" dirty="0"/>
              <a:t>AI Backend Development Phases (Dec – Mar)</a:t>
            </a:r>
          </a:p>
        </p:txBody>
      </p:sp>
      <p:sp>
        <p:nvSpPr>
          <p:cNvPr id="3" name="Rounded Rectangle 2"/>
          <p:cNvSpPr/>
          <p:nvPr/>
        </p:nvSpPr>
        <p:spPr>
          <a:xfrm>
            <a:off x="548640" y="1828800"/>
            <a:ext cx="8046720" cy="82296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965960"/>
            <a:ext cx="758541" cy="307777"/>
          </a:xfrm>
          <a:prstGeom prst="rect">
            <a:avLst/>
          </a:prstGeom>
          <a:noFill/>
        </p:spPr>
        <p:txBody>
          <a:bodyPr wrap="none">
            <a:spAutoFit/>
          </a:bodyPr>
          <a:lstStyle/>
          <a:p>
            <a:pPr>
              <a:defRPr sz="1400" b="1">
                <a:solidFill>
                  <a:srgbClr val="F59E0B"/>
                </a:solidFill>
              </a:defRPr>
            </a:pPr>
            <a:r>
              <a:rPr dirty="0">
                <a:solidFill>
                  <a:schemeClr val="tx1">
                    <a:lumMod val="95000"/>
                    <a:lumOff val="5000"/>
                  </a:schemeClr>
                </a:solidFill>
              </a:rPr>
              <a:t>Phase 1</a:t>
            </a:r>
          </a:p>
        </p:txBody>
      </p:sp>
      <p:sp>
        <p:nvSpPr>
          <p:cNvPr id="5" name="TextBox 4"/>
          <p:cNvSpPr txBox="1"/>
          <p:nvPr/>
        </p:nvSpPr>
        <p:spPr>
          <a:xfrm>
            <a:off x="1920240" y="1901952"/>
            <a:ext cx="6400800" cy="274320"/>
          </a:xfrm>
          <a:prstGeom prst="rect">
            <a:avLst/>
          </a:prstGeom>
          <a:noFill/>
        </p:spPr>
        <p:txBody>
          <a:bodyPr wrap="none">
            <a:spAutoFit/>
          </a:bodyPr>
          <a:lstStyle/>
          <a:p>
            <a:pPr>
              <a:defRPr sz="1600" b="1">
                <a:solidFill>
                  <a:srgbClr val="1E3A8A"/>
                </a:solidFill>
              </a:defRPr>
            </a:pPr>
            <a:r>
              <a:t>Data Collection &amp; Preparation</a:t>
            </a:r>
          </a:p>
        </p:txBody>
      </p:sp>
      <p:sp>
        <p:nvSpPr>
          <p:cNvPr id="6" name="TextBox 5"/>
          <p:cNvSpPr txBox="1"/>
          <p:nvPr/>
        </p:nvSpPr>
        <p:spPr>
          <a:xfrm>
            <a:off x="1920240" y="2176272"/>
            <a:ext cx="6400800" cy="365760"/>
          </a:xfrm>
          <a:prstGeom prst="rect">
            <a:avLst/>
          </a:prstGeom>
          <a:noFill/>
        </p:spPr>
        <p:txBody>
          <a:bodyPr wrap="square">
            <a:spAutoFit/>
          </a:bodyPr>
          <a:lstStyle/>
          <a:p>
            <a:pPr>
              <a:defRPr sz="1300">
                <a:solidFill>
                  <a:srgbClr val="1F2937"/>
                </a:solidFill>
              </a:defRPr>
            </a:pPr>
            <a:r>
              <a:rPr dirty="0"/>
              <a:t>Collect and clean course catalogs, rules, and syllabi. Design Knowledge Graph schema and structured datasets.</a:t>
            </a:r>
          </a:p>
        </p:txBody>
      </p:sp>
      <p:sp>
        <p:nvSpPr>
          <p:cNvPr id="7" name="Rounded Rectangle 6"/>
          <p:cNvSpPr/>
          <p:nvPr/>
        </p:nvSpPr>
        <p:spPr>
          <a:xfrm>
            <a:off x="548640" y="2743200"/>
            <a:ext cx="8046720" cy="82296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880360"/>
            <a:ext cx="758541" cy="307777"/>
          </a:xfrm>
          <a:prstGeom prst="rect">
            <a:avLst/>
          </a:prstGeom>
          <a:noFill/>
        </p:spPr>
        <p:txBody>
          <a:bodyPr wrap="none">
            <a:spAutoFit/>
          </a:bodyPr>
          <a:lstStyle/>
          <a:p>
            <a:pPr>
              <a:defRPr sz="1400" b="1">
                <a:solidFill>
                  <a:srgbClr val="F59E0B"/>
                </a:solidFill>
              </a:defRPr>
            </a:pPr>
            <a:r>
              <a:rPr dirty="0">
                <a:solidFill>
                  <a:schemeClr val="tx1">
                    <a:lumMod val="95000"/>
                    <a:lumOff val="5000"/>
                  </a:schemeClr>
                </a:solidFill>
              </a:rPr>
              <a:t>Phase 2</a:t>
            </a:r>
          </a:p>
        </p:txBody>
      </p:sp>
      <p:sp>
        <p:nvSpPr>
          <p:cNvPr id="9" name="TextBox 8"/>
          <p:cNvSpPr txBox="1"/>
          <p:nvPr/>
        </p:nvSpPr>
        <p:spPr>
          <a:xfrm>
            <a:off x="1920240" y="2816352"/>
            <a:ext cx="6400800" cy="274320"/>
          </a:xfrm>
          <a:prstGeom prst="rect">
            <a:avLst/>
          </a:prstGeom>
          <a:noFill/>
        </p:spPr>
        <p:txBody>
          <a:bodyPr wrap="none">
            <a:spAutoFit/>
          </a:bodyPr>
          <a:lstStyle/>
          <a:p>
            <a:pPr>
              <a:defRPr sz="1600" b="1">
                <a:solidFill>
                  <a:srgbClr val="1E3A8A"/>
                </a:solidFill>
              </a:defRPr>
            </a:pPr>
            <a:r>
              <a:t>Knowledge Graph Construction</a:t>
            </a:r>
          </a:p>
        </p:txBody>
      </p:sp>
      <p:sp>
        <p:nvSpPr>
          <p:cNvPr id="10" name="TextBox 9"/>
          <p:cNvSpPr txBox="1"/>
          <p:nvPr/>
        </p:nvSpPr>
        <p:spPr>
          <a:xfrm>
            <a:off x="1920240" y="3090672"/>
            <a:ext cx="6400800" cy="365760"/>
          </a:xfrm>
          <a:prstGeom prst="rect">
            <a:avLst/>
          </a:prstGeom>
          <a:noFill/>
        </p:spPr>
        <p:txBody>
          <a:bodyPr wrap="square">
            <a:spAutoFit/>
          </a:bodyPr>
          <a:lstStyle/>
          <a:p>
            <a:pPr>
              <a:defRPr sz="1300">
                <a:solidFill>
                  <a:srgbClr val="1F2937"/>
                </a:solidFill>
              </a:defRPr>
            </a:pPr>
            <a:r>
              <a:rPr dirty="0"/>
              <a:t>Build nodes &amp; relationships in Neo4j (Course, Prerequisite, Major). Connect KG with Python backend, test queries.</a:t>
            </a:r>
          </a:p>
        </p:txBody>
      </p:sp>
      <p:sp>
        <p:nvSpPr>
          <p:cNvPr id="11" name="Rounded Rectangle 10"/>
          <p:cNvSpPr/>
          <p:nvPr/>
        </p:nvSpPr>
        <p:spPr>
          <a:xfrm>
            <a:off x="548640" y="3657600"/>
            <a:ext cx="8046720" cy="82296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794760"/>
            <a:ext cx="758541" cy="307777"/>
          </a:xfrm>
          <a:prstGeom prst="rect">
            <a:avLst/>
          </a:prstGeom>
          <a:noFill/>
        </p:spPr>
        <p:txBody>
          <a:bodyPr wrap="none">
            <a:spAutoFit/>
          </a:bodyPr>
          <a:lstStyle/>
          <a:p>
            <a:pPr>
              <a:defRPr sz="1400" b="1">
                <a:solidFill>
                  <a:srgbClr val="F59E0B"/>
                </a:solidFill>
              </a:defRPr>
            </a:pPr>
            <a:r>
              <a:rPr dirty="0">
                <a:solidFill>
                  <a:schemeClr val="tx1">
                    <a:lumMod val="95000"/>
                    <a:lumOff val="5000"/>
                  </a:schemeClr>
                </a:solidFill>
              </a:rPr>
              <a:t>Phase 3</a:t>
            </a:r>
          </a:p>
        </p:txBody>
      </p:sp>
      <p:sp>
        <p:nvSpPr>
          <p:cNvPr id="13" name="TextBox 12"/>
          <p:cNvSpPr txBox="1"/>
          <p:nvPr/>
        </p:nvSpPr>
        <p:spPr>
          <a:xfrm>
            <a:off x="1920240" y="3730752"/>
            <a:ext cx="6400800" cy="274320"/>
          </a:xfrm>
          <a:prstGeom prst="rect">
            <a:avLst/>
          </a:prstGeom>
          <a:noFill/>
        </p:spPr>
        <p:txBody>
          <a:bodyPr wrap="none">
            <a:spAutoFit/>
          </a:bodyPr>
          <a:lstStyle/>
          <a:p>
            <a:pPr>
              <a:defRPr sz="1600" b="1">
                <a:solidFill>
                  <a:srgbClr val="1E3A8A"/>
                </a:solidFill>
              </a:defRPr>
            </a:pPr>
            <a:r>
              <a:t>RAG Development</a:t>
            </a:r>
          </a:p>
        </p:txBody>
      </p:sp>
      <p:sp>
        <p:nvSpPr>
          <p:cNvPr id="14" name="TextBox 13"/>
          <p:cNvSpPr txBox="1"/>
          <p:nvPr/>
        </p:nvSpPr>
        <p:spPr>
          <a:xfrm>
            <a:off x="1920240" y="4005072"/>
            <a:ext cx="6400800" cy="365760"/>
          </a:xfrm>
          <a:prstGeom prst="rect">
            <a:avLst/>
          </a:prstGeom>
          <a:noFill/>
        </p:spPr>
        <p:txBody>
          <a:bodyPr wrap="square">
            <a:spAutoFit/>
          </a:bodyPr>
          <a:lstStyle/>
          <a:p>
            <a:pPr>
              <a:defRPr sz="1300">
                <a:solidFill>
                  <a:srgbClr val="1F2937"/>
                </a:solidFill>
              </a:defRPr>
            </a:pPr>
            <a:r>
              <a:rPr dirty="0"/>
              <a:t>Chunk documents, create embeddings, and index in FAISS/</a:t>
            </a:r>
            <a:r>
              <a:rPr dirty="0" err="1"/>
              <a:t>Supabase</a:t>
            </a:r>
            <a:r>
              <a:rPr dirty="0"/>
              <a:t>. Ensure accurate retrieval of academic content.</a:t>
            </a:r>
          </a:p>
        </p:txBody>
      </p:sp>
      <p:sp>
        <p:nvSpPr>
          <p:cNvPr id="15" name="Rounded Rectangle 14"/>
          <p:cNvSpPr/>
          <p:nvPr/>
        </p:nvSpPr>
        <p:spPr>
          <a:xfrm>
            <a:off x="548640" y="4572000"/>
            <a:ext cx="8046720" cy="82296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4709160"/>
            <a:ext cx="758541" cy="307777"/>
          </a:xfrm>
          <a:prstGeom prst="rect">
            <a:avLst/>
          </a:prstGeom>
          <a:noFill/>
        </p:spPr>
        <p:txBody>
          <a:bodyPr wrap="none">
            <a:spAutoFit/>
          </a:bodyPr>
          <a:lstStyle/>
          <a:p>
            <a:pPr>
              <a:defRPr sz="1400" b="1">
                <a:solidFill>
                  <a:srgbClr val="F59E0B"/>
                </a:solidFill>
              </a:defRPr>
            </a:pPr>
            <a:r>
              <a:rPr dirty="0">
                <a:solidFill>
                  <a:schemeClr val="tx1">
                    <a:lumMod val="95000"/>
                    <a:lumOff val="5000"/>
                  </a:schemeClr>
                </a:solidFill>
              </a:rPr>
              <a:t>Phase 4</a:t>
            </a:r>
          </a:p>
        </p:txBody>
      </p:sp>
      <p:sp>
        <p:nvSpPr>
          <p:cNvPr id="17" name="TextBox 16"/>
          <p:cNvSpPr txBox="1"/>
          <p:nvPr/>
        </p:nvSpPr>
        <p:spPr>
          <a:xfrm>
            <a:off x="1920240" y="4645152"/>
            <a:ext cx="6400800" cy="274320"/>
          </a:xfrm>
          <a:prstGeom prst="rect">
            <a:avLst/>
          </a:prstGeom>
          <a:noFill/>
        </p:spPr>
        <p:txBody>
          <a:bodyPr wrap="none">
            <a:spAutoFit/>
          </a:bodyPr>
          <a:lstStyle/>
          <a:p>
            <a:pPr>
              <a:defRPr sz="1600" b="1">
                <a:solidFill>
                  <a:srgbClr val="1E3A8A"/>
                </a:solidFill>
              </a:defRPr>
            </a:pPr>
            <a:r>
              <a:rPr dirty="0"/>
              <a:t>Hybrid QA Pipeline Integration</a:t>
            </a:r>
          </a:p>
        </p:txBody>
      </p:sp>
      <p:sp>
        <p:nvSpPr>
          <p:cNvPr id="18" name="TextBox 17"/>
          <p:cNvSpPr txBox="1"/>
          <p:nvPr/>
        </p:nvSpPr>
        <p:spPr>
          <a:xfrm>
            <a:off x="1920240" y="4897028"/>
            <a:ext cx="6400800" cy="365760"/>
          </a:xfrm>
          <a:prstGeom prst="rect">
            <a:avLst/>
          </a:prstGeom>
          <a:noFill/>
        </p:spPr>
        <p:txBody>
          <a:bodyPr wrap="square">
            <a:spAutoFit/>
          </a:bodyPr>
          <a:lstStyle/>
          <a:p>
            <a:pPr>
              <a:defRPr sz="1300">
                <a:solidFill>
                  <a:srgbClr val="1F2937"/>
                </a:solidFill>
              </a:defRPr>
            </a:pPr>
            <a:r>
              <a:rPr dirty="0"/>
              <a:t>Combine RAG + KG outputs with LLM for reasoning. Generate context-aware, structured answers.</a:t>
            </a:r>
          </a:p>
        </p:txBody>
      </p:sp>
      <p:sp>
        <p:nvSpPr>
          <p:cNvPr id="19" name="Rounded Rectangle 18"/>
          <p:cNvSpPr/>
          <p:nvPr/>
        </p:nvSpPr>
        <p:spPr>
          <a:xfrm>
            <a:off x="548640" y="5486400"/>
            <a:ext cx="8046720" cy="82296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5623560"/>
            <a:ext cx="758541" cy="307777"/>
          </a:xfrm>
          <a:prstGeom prst="rect">
            <a:avLst/>
          </a:prstGeom>
          <a:noFill/>
        </p:spPr>
        <p:txBody>
          <a:bodyPr wrap="none">
            <a:spAutoFit/>
          </a:bodyPr>
          <a:lstStyle/>
          <a:p>
            <a:pPr>
              <a:defRPr sz="1400" b="1">
                <a:solidFill>
                  <a:srgbClr val="F59E0B"/>
                </a:solidFill>
              </a:defRPr>
            </a:pPr>
            <a:r>
              <a:rPr dirty="0">
                <a:solidFill>
                  <a:schemeClr val="tx1">
                    <a:lumMod val="95000"/>
                    <a:lumOff val="5000"/>
                  </a:schemeClr>
                </a:solidFill>
              </a:rPr>
              <a:t>Phase 5</a:t>
            </a:r>
          </a:p>
        </p:txBody>
      </p:sp>
      <p:sp>
        <p:nvSpPr>
          <p:cNvPr id="21" name="TextBox 20"/>
          <p:cNvSpPr txBox="1"/>
          <p:nvPr/>
        </p:nvSpPr>
        <p:spPr>
          <a:xfrm>
            <a:off x="1920240" y="5559552"/>
            <a:ext cx="6400800" cy="274320"/>
          </a:xfrm>
          <a:prstGeom prst="rect">
            <a:avLst/>
          </a:prstGeom>
          <a:noFill/>
        </p:spPr>
        <p:txBody>
          <a:bodyPr wrap="none">
            <a:spAutoFit/>
          </a:bodyPr>
          <a:lstStyle/>
          <a:p>
            <a:pPr>
              <a:defRPr sz="1600" b="1">
                <a:solidFill>
                  <a:srgbClr val="1E3A8A"/>
                </a:solidFill>
              </a:defRPr>
            </a:pPr>
            <a:r>
              <a:t>Testing &amp; Optimization</a:t>
            </a:r>
          </a:p>
        </p:txBody>
      </p:sp>
      <p:sp>
        <p:nvSpPr>
          <p:cNvPr id="22" name="TextBox 21"/>
          <p:cNvSpPr txBox="1"/>
          <p:nvPr/>
        </p:nvSpPr>
        <p:spPr>
          <a:xfrm>
            <a:off x="1920240" y="5870448"/>
            <a:ext cx="6400800" cy="365760"/>
          </a:xfrm>
          <a:prstGeom prst="rect">
            <a:avLst/>
          </a:prstGeom>
          <a:noFill/>
        </p:spPr>
        <p:txBody>
          <a:bodyPr wrap="square">
            <a:spAutoFit/>
          </a:bodyPr>
          <a:lstStyle/>
          <a:p>
            <a:pPr>
              <a:defRPr sz="1300">
                <a:solidFill>
                  <a:srgbClr val="1F2937"/>
                </a:solidFill>
              </a:defRPr>
            </a:pPr>
            <a:r>
              <a:rPr dirty="0"/>
              <a:t>Evaluate accuracy, latency, and consistency. Prepare API endpoint for Flutter app integration.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7863840" cy="1200329"/>
          </a:xfrm>
          <a:prstGeom prst="rect">
            <a:avLst/>
          </a:prstGeom>
          <a:noFill/>
        </p:spPr>
        <p:txBody>
          <a:bodyPr wrap="square">
            <a:spAutoFit/>
          </a:bodyPr>
          <a:lstStyle/>
          <a:p>
            <a:pPr>
              <a:defRPr sz="4000" b="1">
                <a:solidFill>
                  <a:srgbClr val="1E3A8A"/>
                </a:solidFill>
              </a:defRPr>
            </a:pPr>
            <a:r>
              <a:rPr sz="3600" dirty="0"/>
              <a:t>Flutter Mobile App Development Phases (Feb – May)</a:t>
            </a:r>
          </a:p>
        </p:txBody>
      </p:sp>
      <p:sp>
        <p:nvSpPr>
          <p:cNvPr id="3" name="Rounded Rectangle 2"/>
          <p:cNvSpPr/>
          <p:nvPr/>
        </p:nvSpPr>
        <p:spPr>
          <a:xfrm>
            <a:off x="548640" y="1751076"/>
            <a:ext cx="8046720" cy="731520"/>
          </a:xfrm>
          <a:prstGeom prst="roundRect">
            <a:avLst/>
          </a:prstGeom>
          <a:solidFill>
            <a:srgbClr val="F8FAFC"/>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847088"/>
            <a:ext cx="758541" cy="307777"/>
          </a:xfrm>
          <a:prstGeom prst="rect">
            <a:avLst/>
          </a:prstGeom>
          <a:noFill/>
        </p:spPr>
        <p:txBody>
          <a:bodyPr wrap="none">
            <a:spAutoFit/>
          </a:bodyPr>
          <a:lstStyle/>
          <a:p>
            <a:pPr>
              <a:defRPr sz="1400" b="1">
                <a:solidFill>
                  <a:srgbClr val="F59E0B"/>
                </a:solidFill>
              </a:defRPr>
            </a:pPr>
            <a:r>
              <a:rPr dirty="0">
                <a:solidFill>
                  <a:schemeClr val="tx1">
                    <a:lumMod val="95000"/>
                    <a:lumOff val="5000"/>
                  </a:schemeClr>
                </a:solidFill>
              </a:rPr>
              <a:t>Phase 1</a:t>
            </a:r>
          </a:p>
        </p:txBody>
      </p:sp>
      <p:sp>
        <p:nvSpPr>
          <p:cNvPr id="5" name="TextBox 4"/>
          <p:cNvSpPr txBox="1"/>
          <p:nvPr/>
        </p:nvSpPr>
        <p:spPr>
          <a:xfrm>
            <a:off x="1920240" y="1810512"/>
            <a:ext cx="6400800" cy="274320"/>
          </a:xfrm>
          <a:prstGeom prst="rect">
            <a:avLst/>
          </a:prstGeom>
          <a:noFill/>
        </p:spPr>
        <p:txBody>
          <a:bodyPr wrap="none">
            <a:spAutoFit/>
          </a:bodyPr>
          <a:lstStyle/>
          <a:p>
            <a:pPr>
              <a:defRPr sz="1500" b="1">
                <a:solidFill>
                  <a:srgbClr val="1E3A8A"/>
                </a:solidFill>
              </a:defRPr>
            </a:pPr>
            <a:r>
              <a:t>Project Foundation</a:t>
            </a:r>
          </a:p>
        </p:txBody>
      </p:sp>
      <p:sp>
        <p:nvSpPr>
          <p:cNvPr id="6" name="TextBox 5"/>
          <p:cNvSpPr txBox="1"/>
          <p:nvPr/>
        </p:nvSpPr>
        <p:spPr>
          <a:xfrm>
            <a:off x="1920240" y="2084832"/>
            <a:ext cx="6400800" cy="320040"/>
          </a:xfrm>
          <a:prstGeom prst="rect">
            <a:avLst/>
          </a:prstGeom>
          <a:noFill/>
        </p:spPr>
        <p:txBody>
          <a:bodyPr wrap="square">
            <a:spAutoFit/>
          </a:bodyPr>
          <a:lstStyle/>
          <a:p>
            <a:pPr>
              <a:defRPr sz="1200">
                <a:solidFill>
                  <a:srgbClr val="1F2937"/>
                </a:solidFill>
              </a:defRPr>
            </a:pPr>
            <a:r>
              <a:rPr dirty="0"/>
              <a:t>Set up Flutter environment, version control, app architecture. Design UI/UX layouts and chatbot interface.</a:t>
            </a:r>
          </a:p>
        </p:txBody>
      </p:sp>
      <p:sp>
        <p:nvSpPr>
          <p:cNvPr id="7" name="Rounded Rectangle 6"/>
          <p:cNvSpPr/>
          <p:nvPr/>
        </p:nvSpPr>
        <p:spPr>
          <a:xfrm>
            <a:off x="548640" y="2560320"/>
            <a:ext cx="8046720" cy="731520"/>
          </a:xfrm>
          <a:prstGeom prst="roundRect">
            <a:avLst/>
          </a:prstGeom>
          <a:solidFill>
            <a:srgbClr val="F8FAFC"/>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670048"/>
            <a:ext cx="758541" cy="307777"/>
          </a:xfrm>
          <a:prstGeom prst="rect">
            <a:avLst/>
          </a:prstGeom>
          <a:noFill/>
        </p:spPr>
        <p:txBody>
          <a:bodyPr wrap="none">
            <a:spAutoFit/>
          </a:bodyPr>
          <a:lstStyle/>
          <a:p>
            <a:pPr>
              <a:defRPr sz="1400" b="1">
                <a:solidFill>
                  <a:srgbClr val="F59E0B"/>
                </a:solidFill>
              </a:defRPr>
            </a:pPr>
            <a:r>
              <a:rPr dirty="0">
                <a:solidFill>
                  <a:schemeClr val="tx1">
                    <a:lumMod val="95000"/>
                    <a:lumOff val="5000"/>
                  </a:schemeClr>
                </a:solidFill>
              </a:rPr>
              <a:t>Phase</a:t>
            </a:r>
            <a:r>
              <a:rPr dirty="0"/>
              <a:t> </a:t>
            </a:r>
            <a:r>
              <a:rPr dirty="0">
                <a:solidFill>
                  <a:schemeClr val="tx1">
                    <a:lumMod val="95000"/>
                    <a:lumOff val="5000"/>
                  </a:schemeClr>
                </a:solidFill>
              </a:rPr>
              <a:t>2</a:t>
            </a:r>
          </a:p>
        </p:txBody>
      </p:sp>
      <p:sp>
        <p:nvSpPr>
          <p:cNvPr id="9" name="TextBox 8"/>
          <p:cNvSpPr txBox="1"/>
          <p:nvPr/>
        </p:nvSpPr>
        <p:spPr>
          <a:xfrm>
            <a:off x="1920240" y="2633472"/>
            <a:ext cx="6400800" cy="274320"/>
          </a:xfrm>
          <a:prstGeom prst="rect">
            <a:avLst/>
          </a:prstGeom>
          <a:noFill/>
        </p:spPr>
        <p:txBody>
          <a:bodyPr wrap="none">
            <a:spAutoFit/>
          </a:bodyPr>
          <a:lstStyle/>
          <a:p>
            <a:pPr>
              <a:defRPr sz="1500" b="1">
                <a:solidFill>
                  <a:srgbClr val="1E3A8A"/>
                </a:solidFill>
              </a:defRPr>
            </a:pPr>
            <a:r>
              <a:t>Backend &amp; Database Connection</a:t>
            </a:r>
          </a:p>
        </p:txBody>
      </p:sp>
      <p:sp>
        <p:nvSpPr>
          <p:cNvPr id="10" name="TextBox 9"/>
          <p:cNvSpPr txBox="1"/>
          <p:nvPr/>
        </p:nvSpPr>
        <p:spPr>
          <a:xfrm>
            <a:off x="1920240" y="2926079"/>
            <a:ext cx="6400800" cy="320040"/>
          </a:xfrm>
          <a:prstGeom prst="rect">
            <a:avLst/>
          </a:prstGeom>
          <a:noFill/>
        </p:spPr>
        <p:txBody>
          <a:bodyPr wrap="square">
            <a:spAutoFit/>
          </a:bodyPr>
          <a:lstStyle/>
          <a:p>
            <a:pPr>
              <a:defRPr sz="1200">
                <a:solidFill>
                  <a:srgbClr val="1F2937"/>
                </a:solidFill>
              </a:defRPr>
            </a:pPr>
            <a:r>
              <a:t>Connect app to FastAPI &amp; Supabase. Implement real-time chat and authentication.</a:t>
            </a:r>
          </a:p>
        </p:txBody>
      </p:sp>
      <p:sp>
        <p:nvSpPr>
          <p:cNvPr id="11" name="Rounded Rectangle 10"/>
          <p:cNvSpPr/>
          <p:nvPr/>
        </p:nvSpPr>
        <p:spPr>
          <a:xfrm>
            <a:off x="548640" y="3383279"/>
            <a:ext cx="8046720" cy="731520"/>
          </a:xfrm>
          <a:prstGeom prst="roundRect">
            <a:avLst/>
          </a:prstGeom>
          <a:solidFill>
            <a:srgbClr val="F8FAFC"/>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493008"/>
            <a:ext cx="758541" cy="307777"/>
          </a:xfrm>
          <a:prstGeom prst="rect">
            <a:avLst/>
          </a:prstGeom>
          <a:noFill/>
        </p:spPr>
        <p:txBody>
          <a:bodyPr wrap="none">
            <a:spAutoFit/>
          </a:bodyPr>
          <a:lstStyle/>
          <a:p>
            <a:pPr>
              <a:defRPr sz="1400" b="1">
                <a:solidFill>
                  <a:srgbClr val="F59E0B"/>
                </a:solidFill>
              </a:defRPr>
            </a:pPr>
            <a:r>
              <a:rPr dirty="0">
                <a:solidFill>
                  <a:schemeClr val="tx1">
                    <a:lumMod val="95000"/>
                    <a:lumOff val="5000"/>
                  </a:schemeClr>
                </a:solidFill>
              </a:rPr>
              <a:t>Phase 3</a:t>
            </a:r>
          </a:p>
        </p:txBody>
      </p:sp>
      <p:sp>
        <p:nvSpPr>
          <p:cNvPr id="13" name="TextBox 12"/>
          <p:cNvSpPr txBox="1"/>
          <p:nvPr/>
        </p:nvSpPr>
        <p:spPr>
          <a:xfrm>
            <a:off x="1920240" y="3456432"/>
            <a:ext cx="6400800" cy="274320"/>
          </a:xfrm>
          <a:prstGeom prst="rect">
            <a:avLst/>
          </a:prstGeom>
          <a:noFill/>
        </p:spPr>
        <p:txBody>
          <a:bodyPr wrap="none">
            <a:spAutoFit/>
          </a:bodyPr>
          <a:lstStyle/>
          <a:p>
            <a:pPr>
              <a:defRPr sz="1500" b="1">
                <a:solidFill>
                  <a:srgbClr val="1E3A8A"/>
                </a:solidFill>
              </a:defRPr>
            </a:pPr>
            <a:r>
              <a:t>Core App Development</a:t>
            </a:r>
          </a:p>
        </p:txBody>
      </p:sp>
      <p:sp>
        <p:nvSpPr>
          <p:cNvPr id="14" name="TextBox 13"/>
          <p:cNvSpPr txBox="1"/>
          <p:nvPr/>
        </p:nvSpPr>
        <p:spPr>
          <a:xfrm>
            <a:off x="1920240" y="3749039"/>
            <a:ext cx="6400800" cy="320040"/>
          </a:xfrm>
          <a:prstGeom prst="rect">
            <a:avLst/>
          </a:prstGeom>
          <a:noFill/>
        </p:spPr>
        <p:txBody>
          <a:bodyPr wrap="square">
            <a:spAutoFit/>
          </a:bodyPr>
          <a:lstStyle/>
          <a:p>
            <a:pPr>
              <a:defRPr sz="1200">
                <a:solidFill>
                  <a:srgbClr val="1F2937"/>
                </a:solidFill>
              </a:defRPr>
            </a:pPr>
            <a:r>
              <a:t>Build main screens: dashboard, profile, courses, summary. Manage app state and secure API calls.</a:t>
            </a:r>
          </a:p>
        </p:txBody>
      </p:sp>
      <p:sp>
        <p:nvSpPr>
          <p:cNvPr id="15" name="Rounded Rectangle 14"/>
          <p:cNvSpPr/>
          <p:nvPr/>
        </p:nvSpPr>
        <p:spPr>
          <a:xfrm>
            <a:off x="548640" y="4206240"/>
            <a:ext cx="8046720" cy="731520"/>
          </a:xfrm>
          <a:prstGeom prst="roundRect">
            <a:avLst/>
          </a:prstGeom>
          <a:solidFill>
            <a:srgbClr val="F8FAFC"/>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4315968"/>
            <a:ext cx="758541" cy="307777"/>
          </a:xfrm>
          <a:prstGeom prst="rect">
            <a:avLst/>
          </a:prstGeom>
          <a:noFill/>
        </p:spPr>
        <p:txBody>
          <a:bodyPr wrap="none">
            <a:spAutoFit/>
          </a:bodyPr>
          <a:lstStyle/>
          <a:p>
            <a:pPr>
              <a:defRPr sz="1400" b="1">
                <a:solidFill>
                  <a:srgbClr val="F59E0B"/>
                </a:solidFill>
              </a:defRPr>
            </a:pPr>
            <a:r>
              <a:rPr dirty="0">
                <a:solidFill>
                  <a:schemeClr val="tx1">
                    <a:lumMod val="95000"/>
                    <a:lumOff val="5000"/>
                  </a:schemeClr>
                </a:solidFill>
              </a:rPr>
              <a:t>Phase 4</a:t>
            </a:r>
          </a:p>
        </p:txBody>
      </p:sp>
      <p:sp>
        <p:nvSpPr>
          <p:cNvPr id="17" name="TextBox 16"/>
          <p:cNvSpPr txBox="1"/>
          <p:nvPr/>
        </p:nvSpPr>
        <p:spPr>
          <a:xfrm>
            <a:off x="1920240" y="4279392"/>
            <a:ext cx="6400800" cy="274320"/>
          </a:xfrm>
          <a:prstGeom prst="rect">
            <a:avLst/>
          </a:prstGeom>
          <a:noFill/>
        </p:spPr>
        <p:txBody>
          <a:bodyPr wrap="none">
            <a:spAutoFit/>
          </a:bodyPr>
          <a:lstStyle/>
          <a:p>
            <a:pPr>
              <a:defRPr sz="1500" b="1">
                <a:solidFill>
                  <a:srgbClr val="1E3A8A"/>
                </a:solidFill>
              </a:defRPr>
            </a:pPr>
            <a:r>
              <a:t>Chatbot Integration</a:t>
            </a:r>
          </a:p>
        </p:txBody>
      </p:sp>
      <p:sp>
        <p:nvSpPr>
          <p:cNvPr id="18" name="TextBox 17"/>
          <p:cNvSpPr txBox="1"/>
          <p:nvPr/>
        </p:nvSpPr>
        <p:spPr>
          <a:xfrm>
            <a:off x="1920240" y="4572000"/>
            <a:ext cx="6400800" cy="320040"/>
          </a:xfrm>
          <a:prstGeom prst="rect">
            <a:avLst/>
          </a:prstGeom>
          <a:noFill/>
        </p:spPr>
        <p:txBody>
          <a:bodyPr wrap="square">
            <a:spAutoFit/>
          </a:bodyPr>
          <a:lstStyle/>
          <a:p>
            <a:pPr>
              <a:defRPr sz="1200">
                <a:solidFill>
                  <a:srgbClr val="1F2937"/>
                </a:solidFill>
              </a:defRPr>
            </a:pPr>
            <a:r>
              <a:t>Integrate QA chatbot (RAG + KG + LLM). Display contextual responses and save chat history.</a:t>
            </a:r>
          </a:p>
        </p:txBody>
      </p:sp>
      <p:sp>
        <p:nvSpPr>
          <p:cNvPr id="19" name="Rounded Rectangle 18"/>
          <p:cNvSpPr/>
          <p:nvPr/>
        </p:nvSpPr>
        <p:spPr>
          <a:xfrm>
            <a:off x="548640" y="5029200"/>
            <a:ext cx="8046720" cy="731520"/>
          </a:xfrm>
          <a:prstGeom prst="roundRect">
            <a:avLst/>
          </a:prstGeom>
          <a:solidFill>
            <a:srgbClr val="F8FAFC"/>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5138928"/>
            <a:ext cx="758541" cy="307777"/>
          </a:xfrm>
          <a:prstGeom prst="rect">
            <a:avLst/>
          </a:prstGeom>
          <a:noFill/>
        </p:spPr>
        <p:txBody>
          <a:bodyPr wrap="none">
            <a:spAutoFit/>
          </a:bodyPr>
          <a:lstStyle/>
          <a:p>
            <a:pPr>
              <a:defRPr sz="1400" b="1">
                <a:solidFill>
                  <a:srgbClr val="F59E0B"/>
                </a:solidFill>
              </a:defRPr>
            </a:pPr>
            <a:r>
              <a:rPr dirty="0">
                <a:solidFill>
                  <a:schemeClr val="tx1">
                    <a:lumMod val="95000"/>
                    <a:lumOff val="5000"/>
                  </a:schemeClr>
                </a:solidFill>
              </a:rPr>
              <a:t>Phase</a:t>
            </a:r>
            <a:r>
              <a:rPr dirty="0"/>
              <a:t> </a:t>
            </a:r>
            <a:r>
              <a:rPr dirty="0">
                <a:solidFill>
                  <a:schemeClr val="tx1">
                    <a:lumMod val="95000"/>
                    <a:lumOff val="5000"/>
                  </a:schemeClr>
                </a:solidFill>
              </a:rPr>
              <a:t>5</a:t>
            </a:r>
          </a:p>
        </p:txBody>
      </p:sp>
      <p:sp>
        <p:nvSpPr>
          <p:cNvPr id="21" name="TextBox 20"/>
          <p:cNvSpPr txBox="1"/>
          <p:nvPr/>
        </p:nvSpPr>
        <p:spPr>
          <a:xfrm>
            <a:off x="1920240" y="5102352"/>
            <a:ext cx="6400800" cy="274320"/>
          </a:xfrm>
          <a:prstGeom prst="rect">
            <a:avLst/>
          </a:prstGeom>
          <a:noFill/>
        </p:spPr>
        <p:txBody>
          <a:bodyPr wrap="none">
            <a:spAutoFit/>
          </a:bodyPr>
          <a:lstStyle/>
          <a:p>
            <a:pPr>
              <a:defRPr sz="1500" b="1">
                <a:solidFill>
                  <a:srgbClr val="1E3A8A"/>
                </a:solidFill>
              </a:defRPr>
            </a:pPr>
            <a:r>
              <a:t>Advanced Features &amp; Analytics</a:t>
            </a:r>
          </a:p>
        </p:txBody>
      </p:sp>
      <p:sp>
        <p:nvSpPr>
          <p:cNvPr id="22" name="TextBox 21"/>
          <p:cNvSpPr txBox="1"/>
          <p:nvPr/>
        </p:nvSpPr>
        <p:spPr>
          <a:xfrm>
            <a:off x="1920240" y="5394960"/>
            <a:ext cx="6400800" cy="320040"/>
          </a:xfrm>
          <a:prstGeom prst="rect">
            <a:avLst/>
          </a:prstGeom>
          <a:noFill/>
        </p:spPr>
        <p:txBody>
          <a:bodyPr wrap="square">
            <a:spAutoFit/>
          </a:bodyPr>
          <a:lstStyle/>
          <a:p>
            <a:pPr>
              <a:defRPr sz="1200">
                <a:solidFill>
                  <a:srgbClr val="1F2937"/>
                </a:solidFill>
              </a:defRPr>
            </a:pPr>
            <a:r>
              <a:t>Add personalization, analytics dashboard, and performance optimization.</a:t>
            </a:r>
          </a:p>
        </p:txBody>
      </p:sp>
      <p:sp>
        <p:nvSpPr>
          <p:cNvPr id="23" name="Rounded Rectangle 22"/>
          <p:cNvSpPr/>
          <p:nvPr/>
        </p:nvSpPr>
        <p:spPr>
          <a:xfrm>
            <a:off x="548640" y="5852160"/>
            <a:ext cx="8046720" cy="731520"/>
          </a:xfrm>
          <a:prstGeom prst="roundRect">
            <a:avLst/>
          </a:prstGeom>
          <a:solidFill>
            <a:srgbClr val="F8FAFC"/>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5961888"/>
            <a:ext cx="758541" cy="307777"/>
          </a:xfrm>
          <a:prstGeom prst="rect">
            <a:avLst/>
          </a:prstGeom>
          <a:noFill/>
        </p:spPr>
        <p:txBody>
          <a:bodyPr wrap="none">
            <a:spAutoFit/>
          </a:bodyPr>
          <a:lstStyle/>
          <a:p>
            <a:pPr>
              <a:defRPr sz="1400" b="1">
                <a:solidFill>
                  <a:srgbClr val="F59E0B"/>
                </a:solidFill>
              </a:defRPr>
            </a:pPr>
            <a:r>
              <a:rPr dirty="0">
                <a:solidFill>
                  <a:schemeClr val="tx1">
                    <a:lumMod val="95000"/>
                    <a:lumOff val="5000"/>
                  </a:schemeClr>
                </a:solidFill>
              </a:rPr>
              <a:t>Phase 6</a:t>
            </a:r>
          </a:p>
        </p:txBody>
      </p:sp>
      <p:sp>
        <p:nvSpPr>
          <p:cNvPr id="25" name="TextBox 24"/>
          <p:cNvSpPr txBox="1"/>
          <p:nvPr/>
        </p:nvSpPr>
        <p:spPr>
          <a:xfrm>
            <a:off x="1920240" y="5925312"/>
            <a:ext cx="6400800" cy="274320"/>
          </a:xfrm>
          <a:prstGeom prst="rect">
            <a:avLst/>
          </a:prstGeom>
          <a:noFill/>
        </p:spPr>
        <p:txBody>
          <a:bodyPr wrap="none">
            <a:spAutoFit/>
          </a:bodyPr>
          <a:lstStyle/>
          <a:p>
            <a:pPr>
              <a:defRPr sz="1500" b="1">
                <a:solidFill>
                  <a:srgbClr val="1E3A8A"/>
                </a:solidFill>
              </a:defRPr>
            </a:pPr>
            <a:r>
              <a:t>Testing &amp; Finalization</a:t>
            </a:r>
          </a:p>
        </p:txBody>
      </p:sp>
      <p:sp>
        <p:nvSpPr>
          <p:cNvPr id="26" name="TextBox 25"/>
          <p:cNvSpPr txBox="1"/>
          <p:nvPr/>
        </p:nvSpPr>
        <p:spPr>
          <a:xfrm>
            <a:off x="1920240" y="6217920"/>
            <a:ext cx="6400800" cy="320040"/>
          </a:xfrm>
          <a:prstGeom prst="rect">
            <a:avLst/>
          </a:prstGeom>
          <a:noFill/>
        </p:spPr>
        <p:txBody>
          <a:bodyPr wrap="square">
            <a:spAutoFit/>
          </a:bodyPr>
          <a:lstStyle/>
          <a:p>
            <a:pPr>
              <a:defRPr sz="1200">
                <a:solidFill>
                  <a:srgbClr val="1F2937"/>
                </a:solidFill>
              </a:defRPr>
            </a:pPr>
            <a:r>
              <a:t>Conduct full testing, fix bugs, ensure security. Prepare demo video, documentation, and slides.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E3A8A"/>
            </a:gs>
            <a:gs pos="100000">
              <a:srgbClr val="0F172A"/>
            </a:gs>
          </a:gsLst>
          <a:lin ang="16200000" scaled="0"/>
        </a:gradFill>
        <a:effectLst/>
      </p:bgPr>
    </p:bg>
    <p:spTree>
      <p:nvGrpSpPr>
        <p:cNvPr id="1" name=""/>
        <p:cNvGrpSpPr/>
        <p:nvPr/>
      </p:nvGrpSpPr>
      <p:grpSpPr>
        <a:xfrm>
          <a:off x="0" y="0"/>
          <a:ext cx="0" cy="0"/>
          <a:chOff x="0" y="0"/>
          <a:chExt cx="0" cy="0"/>
        </a:xfrm>
      </p:grpSpPr>
      <p:sp>
        <p:nvSpPr>
          <p:cNvPr id="2" name="TextBox 1"/>
          <p:cNvSpPr txBox="1"/>
          <p:nvPr/>
        </p:nvSpPr>
        <p:spPr>
          <a:xfrm>
            <a:off x="1828800" y="1828800"/>
            <a:ext cx="5486400" cy="1097280"/>
          </a:xfrm>
          <a:prstGeom prst="rect">
            <a:avLst/>
          </a:prstGeom>
          <a:noFill/>
        </p:spPr>
        <p:txBody>
          <a:bodyPr wrap="none">
            <a:spAutoFit/>
          </a:bodyPr>
          <a:lstStyle/>
          <a:p>
            <a:pPr algn="ctr">
              <a:defRPr sz="6000" b="1">
                <a:solidFill>
                  <a:srgbClr val="FFFFFF"/>
                </a:solidFill>
              </a:defRPr>
            </a:pPr>
            <a:r>
              <a:t>Thank You!</a:t>
            </a:r>
          </a:p>
        </p:txBody>
      </p:sp>
      <p:sp>
        <p:nvSpPr>
          <p:cNvPr id="3" name="TextBox 2"/>
          <p:cNvSpPr txBox="1"/>
          <p:nvPr/>
        </p:nvSpPr>
        <p:spPr>
          <a:xfrm>
            <a:off x="1828800" y="3017520"/>
            <a:ext cx="5486400" cy="640080"/>
          </a:xfrm>
          <a:prstGeom prst="rect">
            <a:avLst/>
          </a:prstGeom>
          <a:noFill/>
        </p:spPr>
        <p:txBody>
          <a:bodyPr wrap="none">
            <a:spAutoFit/>
          </a:bodyPr>
          <a:lstStyle/>
          <a:p>
            <a:pPr algn="ctr">
              <a:defRPr sz="3200">
                <a:solidFill>
                  <a:srgbClr val="F59E0B"/>
                </a:solidFill>
              </a:defRPr>
            </a:pPr>
            <a:r>
              <a:rPr dirty="0"/>
              <a:t>Any Questions?</a:t>
            </a:r>
          </a:p>
        </p:txBody>
      </p:sp>
      <p:sp>
        <p:nvSpPr>
          <p:cNvPr id="4" name="TextBox 3"/>
          <p:cNvSpPr txBox="1"/>
          <p:nvPr/>
        </p:nvSpPr>
        <p:spPr>
          <a:xfrm>
            <a:off x="914400" y="4572000"/>
            <a:ext cx="3657600" cy="1828800"/>
          </a:xfrm>
          <a:prstGeom prst="rect">
            <a:avLst/>
          </a:prstGeom>
          <a:noFill/>
        </p:spPr>
        <p:txBody>
          <a:bodyPr wrap="none">
            <a:spAutoFit/>
          </a:bodyPr>
          <a:lstStyle/>
          <a:p>
            <a:pPr>
              <a:defRPr sz="1800" b="1">
                <a:solidFill>
                  <a:srgbClr val="F59E0B"/>
                </a:solidFill>
              </a:defRPr>
            </a:pPr>
            <a:r>
              <a:rPr dirty="0"/>
              <a:t>Project Team:</a:t>
            </a:r>
          </a:p>
          <a:p>
            <a:pPr>
              <a:spcBef>
                <a:spcPts val="400"/>
              </a:spcBef>
              <a:defRPr sz="1500">
                <a:solidFill>
                  <a:srgbClr val="FFFFFF"/>
                </a:solidFill>
              </a:defRPr>
            </a:pPr>
            <a:r>
              <a:rPr dirty="0"/>
              <a:t>Youssef Emad (225241)</a:t>
            </a:r>
          </a:p>
          <a:p>
            <a:pPr>
              <a:spcBef>
                <a:spcPts val="400"/>
              </a:spcBef>
              <a:defRPr sz="1500">
                <a:solidFill>
                  <a:srgbClr val="FFFFFF"/>
                </a:solidFill>
              </a:defRPr>
            </a:pPr>
            <a:r>
              <a:rPr dirty="0"/>
              <a:t>Omar </a:t>
            </a:r>
            <a:r>
              <a:rPr dirty="0" err="1"/>
              <a:t>Tokal</a:t>
            </a:r>
            <a:r>
              <a:rPr dirty="0"/>
              <a:t> (225238)</a:t>
            </a:r>
          </a:p>
          <a:p>
            <a:pPr>
              <a:spcBef>
                <a:spcPts val="400"/>
              </a:spcBef>
              <a:defRPr sz="1500">
                <a:solidFill>
                  <a:srgbClr val="FFFFFF"/>
                </a:solidFill>
              </a:defRPr>
            </a:pPr>
            <a:r>
              <a:rPr dirty="0"/>
              <a:t>Amr Hamdy (225182)</a:t>
            </a:r>
          </a:p>
          <a:p>
            <a:pPr>
              <a:spcBef>
                <a:spcPts val="400"/>
              </a:spcBef>
              <a:defRPr sz="1500">
                <a:solidFill>
                  <a:srgbClr val="FFFFFF"/>
                </a:solidFill>
              </a:defRPr>
            </a:pPr>
            <a:r>
              <a:rPr dirty="0"/>
              <a:t>Zeyad Mostafa (225070)</a:t>
            </a:r>
          </a:p>
        </p:txBody>
      </p:sp>
      <p:sp>
        <p:nvSpPr>
          <p:cNvPr id="5" name="TextBox 4"/>
          <p:cNvSpPr txBox="1"/>
          <p:nvPr/>
        </p:nvSpPr>
        <p:spPr>
          <a:xfrm>
            <a:off x="5029200" y="4572000"/>
            <a:ext cx="3657600" cy="1828800"/>
          </a:xfrm>
          <a:prstGeom prst="rect">
            <a:avLst/>
          </a:prstGeom>
          <a:noFill/>
        </p:spPr>
        <p:txBody>
          <a:bodyPr wrap="none">
            <a:spAutoFit/>
          </a:bodyPr>
          <a:lstStyle/>
          <a:p>
            <a:pPr>
              <a:defRPr sz="1800" b="1">
                <a:solidFill>
                  <a:srgbClr val="F59E0B"/>
                </a:solidFill>
              </a:defRPr>
            </a:pPr>
            <a:r>
              <a:rPr dirty="0"/>
              <a:t>Supervised By:</a:t>
            </a:r>
          </a:p>
          <a:p>
            <a:pPr>
              <a:spcBef>
                <a:spcPts val="400"/>
              </a:spcBef>
              <a:defRPr sz="1500">
                <a:solidFill>
                  <a:srgbClr val="FFFFFF"/>
                </a:solidFill>
              </a:defRPr>
            </a:pPr>
            <a:r>
              <a:rPr dirty="0"/>
              <a:t>Prof. Dr. Sameh Zarif</a:t>
            </a:r>
          </a:p>
          <a:p>
            <a:pPr>
              <a:spcBef>
                <a:spcPts val="400"/>
              </a:spcBef>
              <a:defRPr sz="1500">
                <a:solidFill>
                  <a:srgbClr val="FFFFFF"/>
                </a:solidFill>
              </a:defRPr>
            </a:pPr>
            <a:r>
              <a:rPr dirty="0"/>
              <a:t>T.A. Mariam Haggag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311</TotalTime>
  <Words>1568</Words>
  <Application>Microsoft Office PowerPoint</Application>
  <PresentationFormat>On-screen Show (4:3)</PresentationFormat>
  <Paragraphs>216</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Youssef</dc:creator>
  <cp:keywords/>
  <dc:description>generated using python-pptx</dc:description>
  <cp:lastModifiedBy>youssef emad eldin mohamed</cp:lastModifiedBy>
  <cp:revision>6</cp:revision>
  <dcterms:created xsi:type="dcterms:W3CDTF">2013-01-27T09:14:16Z</dcterms:created>
  <dcterms:modified xsi:type="dcterms:W3CDTF">2026-01-20T14:25:48Z</dcterms:modified>
  <cp:category/>
</cp:coreProperties>
</file>